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16" r:id="rId2"/>
    <p:sldId id="320" r:id="rId3"/>
    <p:sldId id="307" r:id="rId4"/>
    <p:sldId id="322" r:id="rId5"/>
    <p:sldId id="313" r:id="rId6"/>
    <p:sldId id="319" r:id="rId7"/>
    <p:sldId id="317" r:id="rId8"/>
    <p:sldId id="323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86BC25"/>
    <a:srgbClr val="6E9E1F"/>
    <a:srgbClr val="A2E72E"/>
    <a:srgbClr val="F3BE21"/>
    <a:srgbClr val="7BA681"/>
    <a:srgbClr val="28402F"/>
    <a:srgbClr val="FF58D4"/>
    <a:srgbClr val="F4AD69"/>
    <a:srgbClr val="4984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1" autoAdjust="0"/>
    <p:restoredTop sz="94966" autoAdjust="0"/>
  </p:normalViewPr>
  <p:slideViewPr>
    <p:cSldViewPr snapToGrid="0" showGuides="1">
      <p:cViewPr varScale="1">
        <p:scale>
          <a:sx n="105" d="100"/>
          <a:sy n="105" d="100"/>
        </p:scale>
        <p:origin x="540" y="10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0" d="100"/>
          <a:sy n="70" d="100"/>
        </p:scale>
        <p:origin x="241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33701D-4330-4EE7-9BF0-6431F8E2A6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CF998-A782-4C8A-8747-A2CA7D048A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C422E-181F-4E69-B889-4841EA1EE446}" type="datetimeFigureOut">
              <a:rPr lang="en-ID" smtClean="0"/>
              <a:t>26/07/2026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3B75D-11DD-4E29-B21A-3BEFD7843A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2A97F-C387-40BF-A80D-9B120372ED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1A19D-7FE1-442D-97C1-2F2B47ADDD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67631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B7041-6594-4BE2-8703-78B4E00C91E5}" type="datetimeFigureOut">
              <a:rPr lang="en-ID" smtClean="0"/>
              <a:t>26/07/2026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E837E-594B-4F0F-92F5-F20D4296AC5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832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@olly?utm_content=attributionCopyText&amp;utm_medium=referral&amp;utm_source=pexel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pexels.com/photo/focused-man-with-bowl-of-popcorn-watching-tv-at-home-3811867/?utm_content=attributionCopyText&amp;utm_medium=referral&amp;utm_source=pexels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@jeshoots-com-147458?utm_content=attributionCopyText&amp;utm_medium=referral&amp;utm_source=pexels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pexels.com/photo/man-holding-remote-control-1040160/?utm_content=attributionCopyText&amp;utm_medium=referral&amp;utm_source=pexels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@jeshoots-com-147458?utm_content=attributionCopyText&amp;utm_medium=referral&amp;utm_source=pexels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pexels.com/photo/man-holding-remote-control-1040160/?utm_content=attributionCopyText&amp;utm_medium=referral&amp;utm_source=pexels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@jeshoots-com-147458?utm_content=attributionCopyText&amp;utm_medium=referral&amp;utm_source=pexels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pexels.com/photo/man-holding-remote-control-1040160/?utm_content=attributionCopyText&amp;utm_medium=referral&amp;utm_source=pexels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D7A8-EF63-8F6B-4D67-D3FA19D7F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840F4-113A-453F-BEF0-D6B8F6EE3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6E819-81F5-4C5E-5C96-CAE9E881D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 by </a:t>
            </a:r>
            <a:r>
              <a:rPr lang="en-ID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Andrea Piacquadio</a:t>
            </a:r>
            <a:r>
              <a:rPr lang="en-ID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ID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Pexels</a:t>
            </a:r>
            <a:endParaRPr lang="en-ID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Content: https://</a:t>
            </a:r>
            <a:r>
              <a:rPr lang="en-US" dirty="0" err="1"/>
              <a:t>prezi.com</a:t>
            </a:r>
            <a:r>
              <a:rPr lang="en-US" dirty="0"/>
              <a:t>/</a:t>
            </a:r>
            <a:r>
              <a:rPr lang="en-US" dirty="0" err="1"/>
              <a:t>nmedogats-xq</a:t>
            </a:r>
            <a:r>
              <a:rPr lang="en-US" dirty="0"/>
              <a:t>/</a:t>
            </a:r>
            <a:r>
              <a:rPr lang="en-US" dirty="0" err="1"/>
              <a:t>netflix</a:t>
            </a:r>
            <a:r>
              <a:rPr lang="en-US" dirty="0"/>
              <a:t>-presentation/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17D27-EFB6-1DD6-E96E-EA91588D1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7379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CFE6C-45F2-DCEB-F5DF-04670E2E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C7353-A05A-79BC-90D9-DE18818A8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6627F-EB7A-E8B2-E82C-B5D4592E6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 by </a:t>
            </a:r>
            <a:r>
              <a:rPr lang="en-ID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JESHOOTS.com</a:t>
            </a:r>
            <a:r>
              <a:rPr lang="en-ID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ID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Pexels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2E8AE-2D45-8EED-E7AF-CAC2504E4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5647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 by </a:t>
            </a:r>
            <a:r>
              <a:rPr lang="en-ID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JESHOOTS.com</a:t>
            </a:r>
            <a:r>
              <a:rPr lang="en-ID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ID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Pexels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7360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DD6E-223D-A8EF-D5D5-AB135CE7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B168E-7BD0-E4A2-F87B-CF5ABA921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1784F-415F-12AC-4FEB-0F9552C98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 by </a:t>
            </a:r>
            <a:r>
              <a:rPr lang="en-ID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JESHOOTS.com</a:t>
            </a:r>
            <a:r>
              <a:rPr lang="en-ID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ID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Pexels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A4115-E0F6-77A5-D65C-E594D715E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0965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FFAA-25BE-47A2-A60E-349BE354A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DAA34-980C-44A0-9965-D1AF72E12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14143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3E93-BC38-4864-A0B9-1D065247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DEF6-B94F-4858-A2BA-F37F3A9A6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825624"/>
            <a:ext cx="11125200" cy="442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F168A1-1B86-C546-A187-DBD938F94F19}"/>
              </a:ext>
            </a:extLst>
          </p:cNvPr>
          <p:cNvSpPr/>
          <p:nvPr userDrawn="1"/>
        </p:nvSpPr>
        <p:spPr>
          <a:xfrm>
            <a:off x="11295856" y="6380308"/>
            <a:ext cx="362744" cy="4776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810A27-0A67-824D-848B-DF92C0F24543}"/>
              </a:ext>
            </a:extLst>
          </p:cNvPr>
          <p:cNvSpPr txBox="1"/>
          <p:nvPr userDrawn="1"/>
        </p:nvSpPr>
        <p:spPr>
          <a:xfrm>
            <a:off x="11311334" y="6474609"/>
            <a:ext cx="331788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0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495EB05-7EDF-4044-9CEA-D481A9953A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" y="6465116"/>
            <a:ext cx="649478" cy="1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7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3D7A-540E-425A-BEF5-69BB8D40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CBEA5-6625-4A00-B51E-8641A4AE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8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00FA-CA57-4FCA-BFA6-C374C16C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0965A-09CA-4AA8-9C52-A5770F423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1825624"/>
            <a:ext cx="5486400" cy="442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E6E0D-8C89-4C4D-B2ED-BC0A4867F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486400" cy="442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D43614-C591-1C4D-B406-80E4FAFA209D}"/>
              </a:ext>
            </a:extLst>
          </p:cNvPr>
          <p:cNvSpPr/>
          <p:nvPr userDrawn="1"/>
        </p:nvSpPr>
        <p:spPr>
          <a:xfrm>
            <a:off x="11295856" y="6380308"/>
            <a:ext cx="362744" cy="4776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4EDF3E-5B30-684D-9AF3-FF4A6345E030}"/>
              </a:ext>
            </a:extLst>
          </p:cNvPr>
          <p:cNvSpPr txBox="1"/>
          <p:nvPr userDrawn="1"/>
        </p:nvSpPr>
        <p:spPr>
          <a:xfrm>
            <a:off x="11311334" y="6474609"/>
            <a:ext cx="331788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0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3B75EC-C578-2C40-9FAC-FDC1F395E7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" y="6465116"/>
            <a:ext cx="649478" cy="1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7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BB064-2B6B-4DB3-B5F2-73FB6436F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1128376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364BD-656F-49D4-978C-1EF0460D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681163"/>
            <a:ext cx="5464175" cy="83704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C1E74-B5DE-489B-8062-6F648F39A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3400" y="2505074"/>
            <a:ext cx="5464175" cy="3743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4AC3-B164-43D5-8EE3-2B3FACE1F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486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59746C-CBAC-4D9D-AFCA-8ED31A888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486400" cy="3743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58B7B1-818C-D549-9796-F885BB8BA803}"/>
              </a:ext>
            </a:extLst>
          </p:cNvPr>
          <p:cNvSpPr/>
          <p:nvPr userDrawn="1"/>
        </p:nvSpPr>
        <p:spPr>
          <a:xfrm>
            <a:off x="11295856" y="6380308"/>
            <a:ext cx="362744" cy="4776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86BBF8-A8A3-2F45-8CDA-D1DFDEFA5027}"/>
              </a:ext>
            </a:extLst>
          </p:cNvPr>
          <p:cNvSpPr txBox="1"/>
          <p:nvPr userDrawn="1"/>
        </p:nvSpPr>
        <p:spPr>
          <a:xfrm>
            <a:off x="11311334" y="6474609"/>
            <a:ext cx="331788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0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970D4DF-77AC-F640-91A9-511F893D60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" y="6465116"/>
            <a:ext cx="649478" cy="1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2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DFF5-D2DF-4F4C-B84D-A9AF846D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A335DA-55DD-F546-91D4-966DFB97BF85}"/>
              </a:ext>
            </a:extLst>
          </p:cNvPr>
          <p:cNvSpPr/>
          <p:nvPr userDrawn="1"/>
        </p:nvSpPr>
        <p:spPr>
          <a:xfrm>
            <a:off x="11295856" y="6380308"/>
            <a:ext cx="362744" cy="4776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F5474C-0304-FB44-BFEF-420F959E659F}"/>
              </a:ext>
            </a:extLst>
          </p:cNvPr>
          <p:cNvSpPr txBox="1"/>
          <p:nvPr userDrawn="1"/>
        </p:nvSpPr>
        <p:spPr>
          <a:xfrm>
            <a:off x="11311334" y="6474609"/>
            <a:ext cx="331788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0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1E20B9-0F8A-E644-B066-3635B0F3C3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" y="6465116"/>
            <a:ext cx="649478" cy="1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2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190A20-3C04-DC4E-A880-61B87B2EC187}"/>
              </a:ext>
            </a:extLst>
          </p:cNvPr>
          <p:cNvSpPr/>
          <p:nvPr userDrawn="1"/>
        </p:nvSpPr>
        <p:spPr>
          <a:xfrm>
            <a:off x="11295856" y="6380308"/>
            <a:ext cx="362744" cy="4776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B5C449-D20B-064B-9BC3-66C4F03460ED}"/>
              </a:ext>
            </a:extLst>
          </p:cNvPr>
          <p:cNvSpPr txBox="1"/>
          <p:nvPr userDrawn="1"/>
        </p:nvSpPr>
        <p:spPr>
          <a:xfrm>
            <a:off x="11311334" y="6474609"/>
            <a:ext cx="331788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0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0CD30-031B-1E4F-8A4C-D91718A864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" y="6465116"/>
            <a:ext cx="649478" cy="1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18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3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3DCC-E58D-4E90-BD32-93612EB10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CF97-5037-48C8-8243-48B5F7870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53ED2-55B1-4F90-9569-25377B50E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5BA77D-1837-FB4B-9C22-C05D840C8D47}"/>
              </a:ext>
            </a:extLst>
          </p:cNvPr>
          <p:cNvSpPr/>
          <p:nvPr userDrawn="1"/>
        </p:nvSpPr>
        <p:spPr>
          <a:xfrm>
            <a:off x="11295856" y="6380308"/>
            <a:ext cx="362744" cy="4776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BDFF62-B7F1-3E4B-8AB5-5F46CE420CAC}"/>
              </a:ext>
            </a:extLst>
          </p:cNvPr>
          <p:cNvSpPr txBox="1"/>
          <p:nvPr userDrawn="1"/>
        </p:nvSpPr>
        <p:spPr>
          <a:xfrm>
            <a:off x="11311334" y="6474609"/>
            <a:ext cx="331788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0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35C37BA-D441-7E4C-BEE2-4F4DDB6F01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" y="6465116"/>
            <a:ext cx="649478" cy="1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51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295E-5F2E-469B-B4C3-767643F2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84A6C5-DA12-455A-81DD-2B5C41D0E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59A1D-8CC0-43CE-9EB7-F5DE71D0A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4155F6-992C-8A46-9F2F-5A404489679B}"/>
              </a:ext>
            </a:extLst>
          </p:cNvPr>
          <p:cNvSpPr/>
          <p:nvPr userDrawn="1"/>
        </p:nvSpPr>
        <p:spPr>
          <a:xfrm>
            <a:off x="11295856" y="6380308"/>
            <a:ext cx="362744" cy="4776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34A233-B331-6544-AE59-8C93062DBD4D}"/>
              </a:ext>
            </a:extLst>
          </p:cNvPr>
          <p:cNvSpPr txBox="1"/>
          <p:nvPr userDrawn="1"/>
        </p:nvSpPr>
        <p:spPr>
          <a:xfrm>
            <a:off x="11311334" y="6474609"/>
            <a:ext cx="331788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0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C44CC5-8BDA-344D-B151-C38195073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" y="6465116"/>
            <a:ext cx="649478" cy="1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04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B649-33B5-49E0-AF95-5C2F7436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3234-B853-4DD4-ACD3-949D5F284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3400" y="1825624"/>
            <a:ext cx="11125200" cy="44227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50476C-AC13-0C41-A5BF-7DD639448237}"/>
              </a:ext>
            </a:extLst>
          </p:cNvPr>
          <p:cNvSpPr/>
          <p:nvPr userDrawn="1"/>
        </p:nvSpPr>
        <p:spPr>
          <a:xfrm>
            <a:off x="11295856" y="6380308"/>
            <a:ext cx="362744" cy="4776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717987-E362-934D-A77D-074758D079F8}"/>
              </a:ext>
            </a:extLst>
          </p:cNvPr>
          <p:cNvSpPr txBox="1"/>
          <p:nvPr userDrawn="1"/>
        </p:nvSpPr>
        <p:spPr>
          <a:xfrm>
            <a:off x="11311334" y="6474609"/>
            <a:ext cx="331788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0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1667B1-421A-CD46-A900-6634FC6D1F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" y="6465116"/>
            <a:ext cx="649478" cy="1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4D309-A159-49EF-AA30-9AD12AF5D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4"/>
            <a:ext cx="2933700" cy="58832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69772-6562-4B91-92CF-F6615BFA1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3400" y="365124"/>
            <a:ext cx="8039100" cy="5883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90D606-7DC0-8C48-9E7D-CFAFF0AEC24C}"/>
              </a:ext>
            </a:extLst>
          </p:cNvPr>
          <p:cNvSpPr/>
          <p:nvPr userDrawn="1"/>
        </p:nvSpPr>
        <p:spPr>
          <a:xfrm>
            <a:off x="11295856" y="6380308"/>
            <a:ext cx="362744" cy="4776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708F47-4C2E-784A-B5ED-5CA57D343619}"/>
              </a:ext>
            </a:extLst>
          </p:cNvPr>
          <p:cNvSpPr txBox="1"/>
          <p:nvPr userDrawn="1"/>
        </p:nvSpPr>
        <p:spPr>
          <a:xfrm>
            <a:off x="11311334" y="6474609"/>
            <a:ext cx="331788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10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F843B50-88EA-904A-9867-056A2D7243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" y="6465116"/>
            <a:ext cx="649478" cy="1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59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04C8778-E6B3-CC41-8F0E-5881E13CE3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7737272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7772400" imgH="10058400" progId="TCLayout.ActiveDocument.1">
                  <p:embed/>
                </p:oleObj>
              </mc:Choice>
              <mc:Fallback>
                <p:oleObj name="think-cell Slide" r:id="rId16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B621A934-B65D-CD4E-8BE0-77B3D33BC55F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1" i="0" baseline="0" dirty="0">
              <a:latin typeface="Segoe UI" panose="020B0502040204020203" pitchFamily="34" charset="0"/>
              <a:ea typeface="+mj-ea"/>
              <a:sym typeface="Segoe UI" panose="020B050204020402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E9C95-668D-4C97-99D8-074E1701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06400"/>
            <a:ext cx="11125200" cy="88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9BE55-B1B7-4BDF-8E9F-D05E93906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524000"/>
            <a:ext cx="11125200" cy="465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36658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>
          <p15:clr>
            <a:srgbClr val="F26B43"/>
          </p15:clr>
        </p15:guide>
        <p15:guide id="2" pos="7344">
          <p15:clr>
            <a:srgbClr val="F26B43"/>
          </p15:clr>
        </p15:guide>
        <p15:guide id="3" orient="horz" pos="3936">
          <p15:clr>
            <a:srgbClr val="F26B43"/>
          </p15:clr>
        </p15:guide>
        <p15:guide id="5" orient="horz" pos="960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6.emf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6.emf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6.em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Relationship Id="rId6" Type="http://schemas.openxmlformats.org/officeDocument/2006/relationships/image" Target="../media/image10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EFD45-EFDD-82ED-6674-35996032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F8C6F6-8FD6-C3EE-CB03-E7266F32B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9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D9CD690-400F-85D6-78F5-2A5566DA899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CE131B47-9CE7-B6F6-E726-7AB91D8FA2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9AEEEFE-FEB0-22EE-7DFD-5C3F4CE15BB0}"/>
              </a:ext>
            </a:extLst>
          </p:cNvPr>
          <p:cNvSpPr txBox="1"/>
          <p:nvPr/>
        </p:nvSpPr>
        <p:spPr>
          <a:xfrm>
            <a:off x="936747" y="3490556"/>
            <a:ext cx="10318504" cy="1046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zh-CN" sz="4000" dirty="0">
                <a:latin typeface="Impact" panose="020B0806030902050204" pitchFamily="34" charset="0"/>
              </a:rPr>
              <a:t>Netflix Strategy Analysis</a:t>
            </a:r>
            <a:endParaRPr lang="en-US" altLang="zh-CN" sz="4000" dirty="0">
              <a:latin typeface="Impact" panose="020B0806030902050204" pitchFamily="34" charset="0"/>
            </a:endParaRPr>
          </a:p>
          <a:p>
            <a:pPr algn="ctr"/>
            <a:r>
              <a:rPr lang="en-US" altLang="zh-CN" sz="2800" i="1" dirty="0">
                <a:latin typeface="Calibri" panose="020F0502020204030204" pitchFamily="34" charset="0"/>
                <a:cs typeface="Calibri" panose="020F0502020204030204" pitchFamily="34" charset="0"/>
              </a:rPr>
              <a:t>Cross-Platform Content Analysis, SWOT &amp; Strategic Recommendation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3F9F61-1B0C-A2CA-E8F3-5EECF9EA7939}"/>
              </a:ext>
            </a:extLst>
          </p:cNvPr>
          <p:cNvSpPr txBox="1"/>
          <p:nvPr/>
        </p:nvSpPr>
        <p:spPr>
          <a:xfrm>
            <a:off x="5467349" y="4716048"/>
            <a:ext cx="125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dirty="0">
                <a:latin typeface="Calibri" panose="020F0502020204030204" pitchFamily="34" charset="0"/>
                <a:cs typeface="Calibri" panose="020F0502020204030204" pitchFamily="34" charset="0"/>
              </a:rPr>
              <a:t>Naqiao Gu</a:t>
            </a:r>
          </a:p>
          <a:p>
            <a:pPr algn="ctr"/>
            <a:r>
              <a:rPr lang="zh-CN" altLang="zh-CN" dirty="0">
                <a:latin typeface="Calibri" panose="020F0502020204030204" pitchFamily="34" charset="0"/>
                <a:cs typeface="Calibri" panose="020F0502020204030204" pitchFamily="34" charset="0"/>
              </a:rPr>
              <a:t>July 2026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B02749-84F2-AE58-8DBC-083FA0B425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563" y="1421934"/>
            <a:ext cx="6976872" cy="188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2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C085-1046-FCCE-7851-6231D2789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0E88A67-BF84-8775-39FB-7D7A953701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9" b="4266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588B4F-A71D-A12B-691E-93BD341D47C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892B8D2-9841-8845-89AA-71EAC2A5C0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355F7D96-8858-B423-5620-64582C68B27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5400" b="1" dirty="0">
              <a:latin typeface="Segoe UI" panose="020B0502040204020203" pitchFamily="34" charset="0"/>
              <a:ea typeface="+mj-ea"/>
              <a:sym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03BCC-BB25-E98A-18F8-80ED107EB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747" y="510829"/>
            <a:ext cx="9548506" cy="609398"/>
          </a:xfrm>
        </p:spPr>
        <p:txBody>
          <a:bodyPr wrap="square" lIns="0" tIns="0" rIns="0" bIns="0">
            <a:spAutoFit/>
          </a:bodyPr>
          <a:lstStyle/>
          <a:p>
            <a:r>
              <a:rPr lang="zh-CN" altLang="zh-CN" dirty="0"/>
              <a:t>Project Overview</a:t>
            </a:r>
            <a:endParaRPr lang="en-US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22FCFB-A788-CAED-1EF2-115666CBBBAC}"/>
              </a:ext>
            </a:extLst>
          </p:cNvPr>
          <p:cNvSpPr/>
          <p:nvPr/>
        </p:nvSpPr>
        <p:spPr>
          <a:xfrm>
            <a:off x="1321747" y="1631056"/>
            <a:ext cx="9715409" cy="360098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Business Problem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Streaming platforms compete on content volume, genre variety, and content quality.</a:t>
            </a:r>
          </a:p>
          <a:p>
            <a:endParaRPr lang="en-US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Project Objective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Identify strategic opportunities for Netflix based on its content portfolio and competitive position.</a:t>
            </a:r>
          </a:p>
          <a:p>
            <a:endParaRPr lang="en-US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Data &amp; Scope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 dataset includes movies and TV shows from Netflix, Hulu, Prime Video, and Disney+.</a:t>
            </a:r>
          </a:p>
          <a:p>
            <a:endParaRPr lang="en-US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Analysis Focus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Content volume, genre mix, release-year patterns, audience ratings, and strategic recommendation.</a:t>
            </a:r>
          </a:p>
          <a:p>
            <a:endParaRPr lang="en-US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Netflix was selected for the final platform-level strategy analysis.</a:t>
            </a:r>
            <a:endParaRPr lang="zh-CN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750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2E6F583-BBFC-7716-82D0-0A8D13B6E8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9" b="4266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892B8D2-9841-8845-89AA-71EAC2A5C0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90073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377C045-D98A-A24A-853E-65BBEE7EFDA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5400" b="1" dirty="0">
              <a:latin typeface="Segoe UI" panose="020B0502040204020203" pitchFamily="34" charset="0"/>
              <a:ea typeface="+mj-ea"/>
              <a:sym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4C710-0156-BD43-B088-064424BC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746" y="510829"/>
            <a:ext cx="10693469" cy="609398"/>
          </a:xfrm>
        </p:spPr>
        <p:txBody>
          <a:bodyPr wrap="square" lIns="0" tIns="0" rIns="0" bIns="0">
            <a:spAutoFit/>
          </a:bodyPr>
          <a:lstStyle/>
          <a:p>
            <a:r>
              <a:rPr lang="en-US" altLang="zh-CN" dirty="0"/>
              <a:t>Industry Landscape: Porter’s Five Forces</a:t>
            </a:r>
            <a:endParaRPr lang="en-US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2E7B1F-469E-384F-8DE4-5F6E65AEF74F}"/>
              </a:ext>
            </a:extLst>
          </p:cNvPr>
          <p:cNvSpPr/>
          <p:nvPr/>
        </p:nvSpPr>
        <p:spPr>
          <a:xfrm>
            <a:off x="1321747" y="3309007"/>
            <a:ext cx="9715409" cy="270843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zh-CN" altLang="zh-CN" sz="1600" b="1" dirty="0">
                <a:latin typeface="Calibri" panose="020F0502020204030204" pitchFamily="34" charset="0"/>
                <a:cs typeface="Calibri" panose="020F0502020204030204" pitchFamily="34" charset="0"/>
              </a:rPr>
              <a:t>Overall Industry Assessment</a:t>
            </a:r>
          </a:p>
          <a:p>
            <a:r>
              <a:rPr lang="zh-CN" altLang="zh-CN" sz="1600" b="1" dirty="0"/>
              <a:t>Competitive Rivalry:</a:t>
            </a:r>
            <a:r>
              <a:rPr lang="zh-CN" altLang="zh-CN" sz="1600" dirty="0"/>
              <a:t> Netflix is competing with Prime Video, Hulu, and Disney+ not only on content size, but also on original titles and content quality. </a:t>
            </a:r>
            <a:endParaRPr lang="en-US" altLang="zh-CN" sz="1600" dirty="0"/>
          </a:p>
          <a:p>
            <a:r>
              <a:rPr lang="zh-CN" altLang="zh-CN" sz="1600" b="1" dirty="0"/>
              <a:t>Threat of New Entrants:</a:t>
            </a:r>
            <a:r>
              <a:rPr lang="zh-CN" altLang="zh-CN" sz="1600" dirty="0"/>
              <a:t> Starting a streaming platform is possible, but matching Netflix’s scale, brand recognition, and global reach would be difficult and expensive. </a:t>
            </a:r>
            <a:endParaRPr lang="en-US" altLang="zh-CN" sz="1600" dirty="0"/>
          </a:p>
          <a:p>
            <a:r>
              <a:rPr lang="zh-CN" altLang="zh-CN" sz="1600" b="1" dirty="0"/>
              <a:t>Supplier Power:</a:t>
            </a:r>
            <a:r>
              <a:rPr lang="zh-CN" altLang="zh-CN" sz="1600" dirty="0"/>
              <a:t> Netflix depends on studios, creators, and IP owners for popular content, which can increase licensing and production costs. </a:t>
            </a:r>
            <a:endParaRPr lang="en-US" altLang="zh-CN" sz="1600" dirty="0"/>
          </a:p>
          <a:p>
            <a:r>
              <a:rPr lang="zh-CN" altLang="zh-CN" sz="1600" b="1" dirty="0"/>
              <a:t>Customer Power:</a:t>
            </a:r>
            <a:r>
              <a:rPr lang="zh-CN" altLang="zh-CN" sz="1600" dirty="0"/>
              <a:t> Subscribers can easily leave Netflix when they do not see enough new or valuable content, since switching to another platform is simple. </a:t>
            </a:r>
            <a:endParaRPr lang="en-US" altLang="zh-CN" sz="1600" dirty="0"/>
          </a:p>
          <a:p>
            <a:r>
              <a:rPr lang="zh-CN" altLang="zh-CN" sz="1600" b="1" dirty="0"/>
              <a:t>Threat of Substitutes:</a:t>
            </a:r>
            <a:r>
              <a:rPr lang="zh-CN" altLang="zh-CN" sz="1600" dirty="0"/>
              <a:t> Netflix also competes with YouTube, TikTok, gaming, and social media for the same limited entertainment time.</a:t>
            </a:r>
            <a:endParaRPr lang="zh-CN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430D051-4BFF-E435-04CC-A4FD9DF01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633030"/>
              </p:ext>
            </p:extLst>
          </p:nvPr>
        </p:nvGraphicFramePr>
        <p:xfrm>
          <a:off x="1321747" y="1208777"/>
          <a:ext cx="722593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2965">
                  <a:extLst>
                    <a:ext uri="{9D8B030D-6E8A-4147-A177-3AD203B41FA5}">
                      <a16:colId xmlns:a16="http://schemas.microsoft.com/office/drawing/2014/main" val="4184799015"/>
                    </a:ext>
                  </a:extLst>
                </a:gridCol>
                <a:gridCol w="3612965">
                  <a:extLst>
                    <a:ext uri="{9D8B030D-6E8A-4147-A177-3AD203B41FA5}">
                      <a16:colId xmlns:a16="http://schemas.microsoft.com/office/drawing/2014/main" val="1260326885"/>
                    </a:ext>
                  </a:extLst>
                </a:gridCol>
              </a:tblGrid>
              <a:tr h="332678">
                <a:tc>
                  <a:txBody>
                    <a:bodyPr/>
                    <a:lstStyle/>
                    <a:p>
                      <a:r>
                        <a:rPr lang="zh-CN" altLang="zh-C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Force</a:t>
                      </a:r>
                      <a:endParaRPr lang="zh-CN" alt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Risk Level</a:t>
                      </a:r>
                      <a:endParaRPr lang="zh-CN" alt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773122"/>
                  </a:ext>
                </a:extLst>
              </a:tr>
              <a:tr h="332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Competitive Rivalry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zh-C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Very High</a:t>
                      </a:r>
                      <a:endParaRPr lang="zh-CN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7402304"/>
                  </a:ext>
                </a:extLst>
              </a:tr>
              <a:tr h="332678">
                <a:tc>
                  <a:txBody>
                    <a:bodyPr/>
                    <a:lstStyle/>
                    <a:p>
                      <a:r>
                        <a:rPr lang="zh-CN" altLang="zh-C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Threat of New Entrants</a:t>
                      </a:r>
                      <a:endParaRPr lang="zh-CN" alt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Moderate</a:t>
                      </a:r>
                      <a:endParaRPr lang="zh-CN" alt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200938"/>
                  </a:ext>
                </a:extLst>
              </a:tr>
              <a:tr h="332678">
                <a:tc>
                  <a:txBody>
                    <a:bodyPr/>
                    <a:lstStyle/>
                    <a:p>
                      <a:r>
                        <a:rPr lang="zh-CN" altLang="zh-C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Bargaining Power of Suppliers</a:t>
                      </a:r>
                      <a:endParaRPr lang="zh-CN" alt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endParaRPr lang="zh-CN" alt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521138"/>
                  </a:ext>
                </a:extLst>
              </a:tr>
              <a:tr h="332678">
                <a:tc>
                  <a:txBody>
                    <a:bodyPr/>
                    <a:lstStyle/>
                    <a:p>
                      <a:r>
                        <a:rPr lang="zh-CN" altLang="zh-C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Bargaining Power of Customers</a:t>
                      </a:r>
                      <a:endParaRPr lang="zh-CN" alt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Very High</a:t>
                      </a:r>
                      <a:endParaRPr lang="zh-CN" alt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869514"/>
                  </a:ext>
                </a:extLst>
              </a:tr>
              <a:tr h="332678">
                <a:tc>
                  <a:txBody>
                    <a:bodyPr/>
                    <a:lstStyle/>
                    <a:p>
                      <a:r>
                        <a:rPr lang="zh-CN" altLang="zh-C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Threat of Substitutes</a:t>
                      </a:r>
                      <a:endParaRPr lang="zh-CN" alt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Very High</a:t>
                      </a:r>
                      <a:endParaRPr lang="zh-CN" alt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98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86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85C2-C78A-BA6F-5F4B-091CAF27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91385D4-3DD6-C0DF-1DCF-FEA67F6E63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9" b="4266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8EBBCA2-2219-64CB-DC07-37BB5824B4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296497A-1647-378A-E081-840F3DF2A4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E360EF2-430E-C53A-D73C-60906D97F68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5400" b="1" dirty="0">
              <a:latin typeface="Segoe UI" panose="020B0502040204020203" pitchFamily="34" charset="0"/>
              <a:ea typeface="+mj-ea"/>
              <a:sym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7D079-3211-FBDE-9B13-C8485EBC7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747" y="510829"/>
            <a:ext cx="9548506" cy="609398"/>
          </a:xfrm>
        </p:spPr>
        <p:txBody>
          <a:bodyPr wrap="square" lIns="0" tIns="0" rIns="0" bIns="0">
            <a:spAutoFit/>
          </a:bodyPr>
          <a:lstStyle/>
          <a:p>
            <a:r>
              <a:rPr lang="zh-CN" altLang="zh-CN" dirty="0"/>
              <a:t>Platform Strategy Analysis</a:t>
            </a:r>
            <a:endParaRPr lang="en-US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722DB8-EEF4-6D6B-480F-CA43EB3BCB91}"/>
              </a:ext>
            </a:extLst>
          </p:cNvPr>
          <p:cNvSpPr/>
          <p:nvPr/>
        </p:nvSpPr>
        <p:spPr>
          <a:xfrm>
            <a:off x="1166300" y="1284819"/>
            <a:ext cx="4427838" cy="430887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1400" b="1" dirty="0">
                <a:latin typeface="Calibri" panose="020F0502020204030204" pitchFamily="34" charset="0"/>
                <a:cs typeface="Calibri" panose="020F0502020204030204" pitchFamily="34" charset="0"/>
              </a:rPr>
              <a:t>Release-Year Pattern</a:t>
            </a:r>
          </a:p>
          <a:p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Across all four platforms, title counts are concentrated in more recent release years.</a:t>
            </a:r>
          </a:p>
          <a:p>
            <a:endParaRPr lang="en-US" altLang="zh-CN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400" b="1" dirty="0">
                <a:latin typeface="Calibri" panose="020F0502020204030204" pitchFamily="34" charset="0"/>
                <a:cs typeface="Calibri" panose="020F0502020204030204" pitchFamily="34" charset="0"/>
              </a:rPr>
              <a:t>Netflix Position</a:t>
            </a:r>
          </a:p>
          <a:p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Netflix shows a strong catalog concentration in the mid-to-late 2010s.</a:t>
            </a:r>
          </a:p>
          <a:p>
            <a:endParaRPr lang="en-US" altLang="zh-CN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400" b="1" dirty="0">
                <a:latin typeface="Calibri" panose="020F0502020204030204" pitchFamily="34" charset="0"/>
                <a:cs typeface="Calibri" panose="020F0502020204030204" pitchFamily="34" charset="0"/>
              </a:rPr>
              <a:t>Competitive Context</a:t>
            </a:r>
          </a:p>
          <a:p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Similar patterns across competitors suggest that catalog freshness is an industry standard rather than a unique Netflix advantage.</a:t>
            </a:r>
          </a:p>
          <a:p>
            <a:endParaRPr lang="en-US" altLang="zh-CN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400" b="1" dirty="0">
                <a:latin typeface="Calibri" panose="020F0502020204030204" pitchFamily="34" charset="0"/>
                <a:cs typeface="Calibri" panose="020F0502020204030204" pitchFamily="34" charset="0"/>
              </a:rPr>
              <a:t>Strategic Limitation</a:t>
            </a:r>
          </a:p>
          <a:p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Release-year distribution measures catalog recency and volume, but does not directly measure content quality.</a:t>
            </a:r>
          </a:p>
          <a:p>
            <a:endParaRPr lang="en-US" altLang="zh-CN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400" b="1" dirty="0">
                <a:latin typeface="Calibri" panose="020F0502020204030204" pitchFamily="34" charset="0"/>
                <a:cs typeface="Calibri" panose="020F0502020204030204" pitchFamily="34" charset="0"/>
              </a:rPr>
              <a:t>Strategic Implication</a:t>
            </a:r>
          </a:p>
          <a:p>
            <a:r>
              <a:rPr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Netflix should maintain catalog freshness while competing more selectively on content quality.</a:t>
            </a:r>
            <a:endParaRPr lang="zh-CN" altLang="zh-C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AB88F96-6801-C18E-6D0E-9A066BAC8B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138" y="1631056"/>
            <a:ext cx="6437518" cy="295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11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FC834C9F-8810-4082-426C-382A0D96E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9" b="4266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3F3C08A-C01E-B941-9F2F-BC97296C43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82186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D429926-8205-864D-8718-4CDAB1F26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781" y="369738"/>
            <a:ext cx="11817123" cy="889000"/>
          </a:xfrm>
        </p:spPr>
        <p:txBody>
          <a:bodyPr>
            <a:normAutofit/>
          </a:bodyPr>
          <a:lstStyle/>
          <a:p>
            <a:r>
              <a:rPr lang="zh-CN" altLang="zh-CN" sz="3600" dirty="0"/>
              <a:t>Netflix SWOT Analysis: Strength &amp; Opportunity</a:t>
            </a:r>
            <a:endParaRPr lang="en-US" sz="3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10081E-F1B5-3042-9953-CB0E331E4F08}"/>
              </a:ext>
            </a:extLst>
          </p:cNvPr>
          <p:cNvSpPr/>
          <p:nvPr/>
        </p:nvSpPr>
        <p:spPr>
          <a:xfrm>
            <a:off x="1130781" y="1258738"/>
            <a:ext cx="4071448" cy="409342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400" b="1" dirty="0"/>
              <a:t>Strength</a:t>
            </a:r>
          </a:p>
          <a:p>
            <a:r>
              <a:rPr lang="zh-CN" altLang="zh-CN" sz="1400" b="1" dirty="0"/>
              <a:t>Observation:</a:t>
            </a:r>
            <a:br>
              <a:rPr lang="zh-CN" altLang="zh-CN" sz="1400" dirty="0"/>
            </a:br>
            <a:r>
              <a:rPr lang="zh-CN" altLang="zh-CN" sz="1400" dirty="0"/>
              <a:t>Netflix has a large content library, with around 3,700 movies and 2,000 TV shows. It is one of the biggest platforms in this comparison.</a:t>
            </a:r>
          </a:p>
          <a:p>
            <a:r>
              <a:rPr lang="zh-CN" altLang="zh-CN" sz="1400" b="1" dirty="0"/>
              <a:t>Evidence:</a:t>
            </a:r>
            <a:br>
              <a:rPr lang="zh-CN" altLang="zh-CN" sz="1400" dirty="0"/>
            </a:br>
            <a:r>
              <a:rPr lang="zh-CN" altLang="zh-CN" sz="1400" dirty="0"/>
              <a:t>Content Volume Comparison (Fig. 6.2)</a:t>
            </a:r>
          </a:p>
          <a:p>
            <a:r>
              <a:rPr lang="zh-CN" altLang="zh-CN" sz="1400" b="1" dirty="0"/>
              <a:t>Strategic implication:</a:t>
            </a:r>
            <a:br>
              <a:rPr lang="zh-CN" altLang="zh-CN" sz="1400" dirty="0"/>
            </a:br>
            <a:r>
              <a:rPr lang="zh-CN" altLang="zh-CN" sz="1400" dirty="0"/>
              <a:t>This gives Netflix more choices for different users and helps it meet different viewing needs.</a:t>
            </a:r>
            <a:endParaRPr lang="en-US" altLang="zh-CN" sz="1400" dirty="0"/>
          </a:p>
          <a:p>
            <a:endParaRPr lang="zh-CN" altLang="zh-CN" sz="1400" dirty="0"/>
          </a:p>
          <a:p>
            <a:r>
              <a:rPr lang="zh-CN" altLang="zh-CN" sz="1400" b="1" dirty="0"/>
              <a:t>Opportunity</a:t>
            </a:r>
          </a:p>
          <a:p>
            <a:r>
              <a:rPr lang="zh-CN" altLang="zh-CN" sz="1400" b="1" dirty="0"/>
              <a:t>Market gap observed:</a:t>
            </a:r>
            <a:br>
              <a:rPr lang="zh-CN" altLang="zh-CN" sz="1400" dirty="0"/>
            </a:br>
            <a:r>
              <a:rPr lang="zh-CN" altLang="zh-CN" sz="1400" dirty="0"/>
              <a:t>Netflix already has a strong content volume, so simply adding more titles may not create a big advantage.</a:t>
            </a:r>
          </a:p>
          <a:p>
            <a:r>
              <a:rPr lang="zh-CN" altLang="zh-CN" sz="1400" b="1" dirty="0"/>
              <a:t>Strategic opportunity:</a:t>
            </a:r>
            <a:br>
              <a:rPr lang="zh-CN" altLang="zh-CN" sz="1400" dirty="0"/>
            </a:br>
            <a:r>
              <a:rPr lang="zh-CN" altLang="zh-CN" sz="1400" dirty="0"/>
              <a:t>Netflix should focus more on improving the quality of its movies and shows instead of only increasing the number of titles.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2E22DDD-12EF-77F0-535F-FFA2C61FA2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383" y="1628476"/>
            <a:ext cx="6099462" cy="302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2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B458-9B67-DE21-0D13-13317994A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BEE6108-7311-806B-6BBB-7872B7EEE2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9" b="4266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719B468-1ACC-3FC6-C11F-0FA1842696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3F3C08A-C01E-B941-9F2F-BC97296C43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087F102-3B6F-CB74-7DA8-00C218775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781" y="369738"/>
            <a:ext cx="11817123" cy="889000"/>
          </a:xfrm>
        </p:spPr>
        <p:txBody>
          <a:bodyPr>
            <a:normAutofit/>
          </a:bodyPr>
          <a:lstStyle/>
          <a:p>
            <a:r>
              <a:rPr lang="zh-CN" altLang="zh-CN" sz="3600" dirty="0"/>
              <a:t>Netflix SWOT Analysis: Weakness &amp; Threat</a:t>
            </a:r>
            <a:endParaRPr lang="en-US" sz="3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9E3656-29C7-C59F-314D-C148378DB39C}"/>
              </a:ext>
            </a:extLst>
          </p:cNvPr>
          <p:cNvSpPr/>
          <p:nvPr/>
        </p:nvSpPr>
        <p:spPr>
          <a:xfrm>
            <a:off x="1130781" y="1258738"/>
            <a:ext cx="4071448" cy="473975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400" b="1" dirty="0"/>
              <a:t>Weakness</a:t>
            </a:r>
          </a:p>
          <a:p>
            <a:r>
              <a:rPr lang="zh-CN" altLang="zh-CN" sz="1400" b="1" dirty="0"/>
              <a:t>Observation:</a:t>
            </a:r>
            <a:br>
              <a:rPr lang="zh-CN" altLang="zh-CN" sz="1400" dirty="0"/>
            </a:br>
            <a:r>
              <a:rPr lang="zh-CN" altLang="zh-CN" sz="1400" dirty="0"/>
              <a:t>Netflix’s average movie score is around 54, which is lower than Hulu at around 60 and Disney+ at around 58.</a:t>
            </a:r>
          </a:p>
          <a:p>
            <a:r>
              <a:rPr lang="zh-CN" altLang="zh-CN" sz="1400" b="1" dirty="0"/>
              <a:t>Evidence:</a:t>
            </a:r>
            <a:br>
              <a:rPr lang="zh-CN" altLang="zh-CN" sz="1400" dirty="0"/>
            </a:br>
            <a:r>
              <a:rPr lang="zh-CN" altLang="zh-CN" sz="1400" dirty="0"/>
              <a:t>Average Rotten Tomatoes Comparison (Fig. 6.5)</a:t>
            </a:r>
          </a:p>
          <a:p>
            <a:r>
              <a:rPr lang="zh-CN" altLang="zh-CN" sz="1400" b="1" dirty="0"/>
              <a:t>Risk implication:</a:t>
            </a:r>
            <a:br>
              <a:rPr lang="zh-CN" altLang="zh-CN" sz="1400" dirty="0"/>
            </a:br>
            <a:r>
              <a:rPr lang="zh-CN" altLang="zh-CN" sz="1400" dirty="0"/>
              <a:t>Netflix has a large library, but some competitors may look stronger in movie quality.</a:t>
            </a:r>
            <a:endParaRPr lang="en-US" altLang="zh-CN" sz="1400" dirty="0"/>
          </a:p>
          <a:p>
            <a:endParaRPr lang="zh-CN" altLang="zh-CN" sz="1400" dirty="0"/>
          </a:p>
          <a:p>
            <a:r>
              <a:rPr lang="zh-CN" altLang="zh-CN" sz="1400" b="1" dirty="0"/>
              <a:t>Threat</a:t>
            </a:r>
          </a:p>
          <a:p>
            <a:r>
              <a:rPr lang="zh-CN" altLang="zh-CN" sz="1400" b="1" dirty="0"/>
              <a:t>Competitive signal observed:</a:t>
            </a:r>
            <a:br>
              <a:rPr lang="zh-CN" altLang="zh-CN" sz="1400" dirty="0"/>
            </a:br>
            <a:r>
              <a:rPr lang="zh-CN" altLang="zh-CN" sz="1400" dirty="0"/>
              <a:t>Netflix faces competition from both quantity and quality. Prime Video has more movies, while Hulu has a higher average movie score.</a:t>
            </a:r>
          </a:p>
          <a:p>
            <a:r>
              <a:rPr lang="zh-CN" altLang="zh-CN" sz="1400" b="1" dirty="0"/>
              <a:t>Evidence from comparison:</a:t>
            </a:r>
            <a:br>
              <a:rPr lang="zh-CN" altLang="zh-CN" sz="1400" dirty="0"/>
            </a:br>
            <a:r>
              <a:rPr lang="zh-CN" altLang="zh-CN" sz="1400" dirty="0"/>
              <a:t>Content Volume Comparison (Fig. 6.2, previous slide) and Average Rotten Tomatoes Comparison (Fig. 6.5)</a:t>
            </a:r>
          </a:p>
          <a:p>
            <a:r>
              <a:rPr lang="zh-CN" altLang="zh-CN" sz="1400" b="1" dirty="0"/>
              <a:t>Strategic risk:</a:t>
            </a:r>
            <a:br>
              <a:rPr lang="zh-CN" altLang="zh-CN" sz="1400" dirty="0"/>
            </a:br>
            <a:r>
              <a:rPr lang="zh-CN" altLang="zh-CN" sz="1400" dirty="0"/>
              <a:t>Since users can easily switch platforms, they may choose another platform for either more content or higher-rated movies.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BA465E-AC98-1571-6915-FEA8F02064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671" y="1628476"/>
            <a:ext cx="6246887" cy="309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87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C9E5A-0FCF-C580-390B-7A2220800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2AF83EF-EA0A-0953-4395-ABDEDBC9E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9" b="4266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2A849C3-3CAB-BADD-812F-8CE74975856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3F3C08A-C01E-B941-9F2F-BC97296C43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55D4486-927C-BA6B-BCE5-CE42AA7C5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781" y="278670"/>
            <a:ext cx="10317507" cy="889000"/>
          </a:xfrm>
        </p:spPr>
        <p:txBody>
          <a:bodyPr>
            <a:noAutofit/>
          </a:bodyPr>
          <a:lstStyle/>
          <a:p>
            <a:r>
              <a:rPr lang="zh-CN" altLang="zh-CN" dirty="0"/>
              <a:t>Strategic Recommendation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1907AA-CC84-3048-C46F-A599C9452695}"/>
              </a:ext>
            </a:extLst>
          </p:cNvPr>
          <p:cNvSpPr/>
          <p:nvPr/>
        </p:nvSpPr>
        <p:spPr>
          <a:xfrm>
            <a:off x="1201288" y="1261674"/>
            <a:ext cx="9555637" cy="406265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altLang="zh-CN" sz="2400" dirty="0"/>
              <a:t>Based on the SWOT analysis, Netflix should shift future content investment away from catalog expansion and toward improving the quality of future movies and shows added to its catalog.</a:t>
            </a:r>
          </a:p>
          <a:p>
            <a:endParaRPr lang="en-US" altLang="zh-CN" sz="2400" dirty="0"/>
          </a:p>
          <a:p>
            <a:r>
              <a:rPr lang="zh-CN" altLang="zh-CN" sz="2400" dirty="0"/>
              <a:t>This recommendation is supported by Netflix’s large content library and its lower average Rotten Tomatoes movie score compared with Hulu and Disney+.</a:t>
            </a:r>
            <a:endParaRPr lang="en-US" altLang="zh-CN" sz="2400" dirty="0"/>
          </a:p>
          <a:p>
            <a:endParaRPr lang="zh-CN" altLang="zh-CN" sz="2400" dirty="0"/>
          </a:p>
          <a:p>
            <a:r>
              <a:rPr lang="zh-CN" altLang="zh-CN" sz="2400" dirty="0"/>
              <a:t>The expected outcome would be better overall content quality, a better viewing experience, and a stronger competitive position in the streaming market.</a:t>
            </a:r>
          </a:p>
        </p:txBody>
      </p:sp>
    </p:spTree>
    <p:extLst>
      <p:ext uri="{BB962C8B-B14F-4D97-AF65-F5344CB8AC3E}">
        <p14:creationId xmlns:p14="http://schemas.microsoft.com/office/powerpoint/2010/main" val="3530403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7D6C3-70C5-DFA8-9754-AECB2C838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11B15F79-665C-82E6-13AD-FFAC37C75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9" b="4266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C7BF650-2CF3-3A51-E7FA-3E4D3F09D7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2A849C3-3CAB-BADD-812F-8CE7497585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5B2E72A-DB5B-CF67-81B4-5D89B4DB0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781" y="278670"/>
            <a:ext cx="10317507" cy="889000"/>
          </a:xfrm>
        </p:spPr>
        <p:txBody>
          <a:bodyPr>
            <a:noAutofit/>
          </a:bodyPr>
          <a:lstStyle/>
          <a:p>
            <a:r>
              <a:rPr lang="zh-CN" altLang="zh-CN" dirty="0"/>
              <a:t>Expected Outcome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4C6A5E-D532-98B2-4230-AF7C0FA7D00E}"/>
              </a:ext>
            </a:extLst>
          </p:cNvPr>
          <p:cNvSpPr/>
          <p:nvPr/>
        </p:nvSpPr>
        <p:spPr>
          <a:xfrm>
            <a:off x="1247008" y="1490007"/>
            <a:ext cx="9555637" cy="387798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b="1" dirty="0"/>
              <a:t>Content Engagement </a:t>
            </a:r>
            <a:endParaRPr lang="en-US" altLang="zh-CN" b="1" dirty="0"/>
          </a:p>
          <a:p>
            <a:r>
              <a:rPr lang="en-US" altLang="zh-CN" dirty="0"/>
              <a:t>Higher-quality future titles may encourage users to watch more content.</a:t>
            </a:r>
          </a:p>
          <a:p>
            <a:endParaRPr lang="en-US" altLang="zh-CN" dirty="0"/>
          </a:p>
          <a:p>
            <a:r>
              <a:rPr lang="zh-CN" altLang="zh-CN" b="1" dirty="0"/>
              <a:t>Retention Rate </a:t>
            </a:r>
            <a:endParaRPr lang="en-US" altLang="zh-CN" b="1" dirty="0"/>
          </a:p>
          <a:p>
            <a:r>
              <a:rPr lang="zh-CN" altLang="zh-CN" dirty="0"/>
              <a:t>Better content quality may increase subscriber satisfaction and long-term retention.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b="1" dirty="0"/>
              <a:t>Churn Reduction</a:t>
            </a:r>
            <a:endParaRPr lang="en-US" altLang="zh-CN" b="1" dirty="0"/>
          </a:p>
          <a:p>
            <a:r>
              <a:rPr lang="zh-CN" altLang="zh-CN" dirty="0"/>
              <a:t>If users find more valuable content, they may be less likely to cancel subscriptions. </a:t>
            </a:r>
            <a:endParaRPr lang="en-US" altLang="zh-CN" dirty="0"/>
          </a:p>
          <a:p>
            <a:endParaRPr lang="en-US" altLang="zh-CN" b="1" dirty="0"/>
          </a:p>
          <a:p>
            <a:r>
              <a:rPr lang="zh-CN" altLang="zh-CN" b="1" dirty="0"/>
              <a:t>Brand Differentiation </a:t>
            </a:r>
            <a:endParaRPr lang="en-US" altLang="zh-CN" b="1" dirty="0"/>
          </a:p>
          <a:p>
            <a:r>
              <a:rPr lang="en-US" altLang="zh-CN" dirty="0"/>
              <a:t>A stronger portfolio of high-quality content can help Netflix stand out from competitors.</a:t>
            </a:r>
          </a:p>
          <a:p>
            <a:endParaRPr lang="en-US" altLang="zh-CN" b="1" dirty="0"/>
          </a:p>
          <a:p>
            <a:r>
              <a:rPr lang="zh-CN" altLang="zh-CN" b="1" dirty="0"/>
              <a:t>Business Impact </a:t>
            </a:r>
            <a:endParaRPr lang="en-US" altLang="zh-CN" b="1" dirty="0"/>
          </a:p>
          <a:p>
            <a:r>
              <a:rPr lang="zh-CN" altLang="zh-CN" dirty="0"/>
              <a:t>The expected result could be stronger user loyalty and more stable subscription revenue.</a:t>
            </a:r>
          </a:p>
        </p:txBody>
      </p:sp>
    </p:spTree>
    <p:extLst>
      <p:ext uri="{BB962C8B-B14F-4D97-AF65-F5344CB8AC3E}">
        <p14:creationId xmlns:p14="http://schemas.microsoft.com/office/powerpoint/2010/main" val="6939932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.dje..5j1bgm_6VzoUJ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lcS7V6RsVPtr9.KlR1r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lcS7V6RsVPtr9.KlR1r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lcS7V6RsVPtr9.KlR1r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Netflix">
      <a:dk1>
        <a:srgbClr val="000000"/>
      </a:dk1>
      <a:lt1>
        <a:srgbClr val="FFFFFF"/>
      </a:lt1>
      <a:dk2>
        <a:srgbClr val="FFFFFF"/>
      </a:dk2>
      <a:lt2>
        <a:srgbClr val="E7E6E6"/>
      </a:lt2>
      <a:accent1>
        <a:srgbClr val="DB0605"/>
      </a:accent1>
      <a:accent2>
        <a:srgbClr val="740405"/>
      </a:accent2>
      <a:accent3>
        <a:srgbClr val="0C090D"/>
      </a:accent3>
      <a:accent4>
        <a:srgbClr val="424342"/>
      </a:accent4>
      <a:accent5>
        <a:srgbClr val="F1F2F1"/>
      </a:accent5>
      <a:accent6>
        <a:srgbClr val="FFFFF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TM04033927[[fn=主要事件]]</Template>
  <TotalTime>2277</TotalTime>
  <Words>848</Words>
  <Application>Microsoft Office PowerPoint</Application>
  <PresentationFormat>宽屏</PresentationFormat>
  <Paragraphs>101</Paragraphs>
  <Slides>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Calibri</vt:lpstr>
      <vt:lpstr>Impact</vt:lpstr>
      <vt:lpstr>Segoe UI</vt:lpstr>
      <vt:lpstr>Segoe UI Light</vt:lpstr>
      <vt:lpstr>Office Theme</vt:lpstr>
      <vt:lpstr>think-cell Slide</vt:lpstr>
      <vt:lpstr>PowerPoint 演示文稿</vt:lpstr>
      <vt:lpstr>Project Overview</vt:lpstr>
      <vt:lpstr>Industry Landscape: Porter’s Five Forces</vt:lpstr>
      <vt:lpstr>Platform Strategy Analysis</vt:lpstr>
      <vt:lpstr>Netflix SWOT Analysis: Strength &amp; Opportunity</vt:lpstr>
      <vt:lpstr>Netflix SWOT Analysis: Weakness &amp; Threat</vt:lpstr>
      <vt:lpstr>Strategic Recommendation</vt:lpstr>
      <vt:lpstr>Expected Outcome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erybagas</dc:creator>
  <cp:lastModifiedBy>Gu Naqiao</cp:lastModifiedBy>
  <cp:revision>266</cp:revision>
  <dcterms:created xsi:type="dcterms:W3CDTF">2019-08-16T12:08:31Z</dcterms:created>
  <dcterms:modified xsi:type="dcterms:W3CDTF">2026-07-26T19:42:07Z</dcterms:modified>
</cp:coreProperties>
</file>