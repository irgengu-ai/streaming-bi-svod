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3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4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5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316" r:id="rId2"/>
    <p:sldId id="320" r:id="rId3"/>
    <p:sldId id="307" r:id="rId4"/>
    <p:sldId id="322" r:id="rId5"/>
    <p:sldId id="324" r:id="rId6"/>
    <p:sldId id="313" r:id="rId7"/>
    <p:sldId id="319" r:id="rId8"/>
    <p:sldId id="317" r:id="rId9"/>
    <p:sldId id="323" r:id="rId10"/>
  </p:sldIdLst>
  <p:sldSz cx="12192000" cy="6858000"/>
  <p:notesSz cx="6858000" cy="9144000"/>
  <p:custDataLst>
    <p:tags r:id="rId1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86BC25"/>
    <a:srgbClr val="6E9E1F"/>
    <a:srgbClr val="A2E72E"/>
    <a:srgbClr val="F3BE21"/>
    <a:srgbClr val="7BA681"/>
    <a:srgbClr val="28402F"/>
    <a:srgbClr val="FF58D4"/>
    <a:srgbClr val="F4AD69"/>
    <a:srgbClr val="4984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1" autoAdjust="0"/>
    <p:restoredTop sz="94966" autoAdjust="0"/>
  </p:normalViewPr>
  <p:slideViewPr>
    <p:cSldViewPr snapToGrid="0" showGuides="1">
      <p:cViewPr>
        <p:scale>
          <a:sx n="100" d="100"/>
          <a:sy n="100" d="100"/>
        </p:scale>
        <p:origin x="900" y="19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70" d="100"/>
          <a:sy n="70" d="100"/>
        </p:scale>
        <p:origin x="2416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833701D-4330-4EE7-9BF0-6431F8E2A69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BCF998-A782-4C8A-8747-A2CA7D048A0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6C422E-181F-4E69-B889-4841EA1EE446}" type="datetimeFigureOut">
              <a:rPr lang="en-ID" smtClean="0"/>
              <a:t>29/07/2026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E3B75D-11DD-4E29-B21A-3BEFD7843AD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2A97F-C387-40BF-A80D-9B120372ED6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41A19D-7FE1-442D-97C1-2F2B47ADDD7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8676318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0B7041-6594-4BE2-8703-78B4E00C91E5}" type="datetimeFigureOut">
              <a:rPr lang="en-ID" smtClean="0"/>
              <a:t>29/07/2026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E837E-594B-4F0F-92F5-F20D4296AC5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18328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7D7A8-EF63-8F6B-4D67-D3FA19D7F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840F4-113A-453F-BEF0-D6B8F6EE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B6E819-81F5-4C5E-5C96-CAE9E881D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17D27-EFB6-1DD6-E96E-EA91588D1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E837E-594B-4F0F-92F5-F20D4296AC5C}" type="slidenum">
              <a:rPr lang="en-ID" smtClean="0"/>
              <a:t>1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273797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CFE6C-45F2-DCEB-F5DF-04670E2E0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DC7353-A05A-79BC-90D9-DE18818A8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86627F-EB7A-E8B2-E82C-B5D4592E6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2E8AE-2D45-8EED-E7AF-CAC2504E49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E837E-594B-4F0F-92F5-F20D4296AC5C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556472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E837E-594B-4F0F-92F5-F20D4296AC5C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773607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ADD6E-223D-A8EF-D5D5-AB135CE72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6B168E-7BD0-E4A2-F87B-CF5ABA921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B1784F-415F-12AC-4FEB-0F9552C98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A4115-E0F6-77A5-D65C-E594D715E2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E837E-594B-4F0F-92F5-F20D4296AC5C}" type="slidenum">
              <a:rPr lang="en-ID" smtClean="0"/>
              <a:t>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50965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9D3A-B536-2D92-FDE7-CF34A1594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16AA3-CD7D-AD6F-C44A-983B36A72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BC7E36-9329-678E-5B66-4BE38AE4C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1C53FC-DA2E-51EB-1D89-705FD27535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E837E-594B-4F0F-92F5-F20D4296AC5C}" type="slidenum">
              <a:rPr lang="en-ID" smtClean="0"/>
              <a:t>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538626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E837E-594B-4F0F-92F5-F20D4296AC5C}" type="slidenum">
              <a:rPr lang="en-ID" smtClean="0"/>
              <a:t>9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770083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2FFAA-25BE-47A2-A60E-349BE354A8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3DAA34-980C-44A0-9965-D1AF72E12A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314143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43E93-BC38-4864-A0B9-1D0652470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4DEF6-B94F-4858-A2BA-F37F3A9A60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" y="1825624"/>
            <a:ext cx="11125200" cy="44227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F168A1-1B86-C546-A187-DBD938F94F19}"/>
              </a:ext>
            </a:extLst>
          </p:cNvPr>
          <p:cNvSpPr/>
          <p:nvPr userDrawn="1"/>
        </p:nvSpPr>
        <p:spPr>
          <a:xfrm>
            <a:off x="11295856" y="6380308"/>
            <a:ext cx="362744" cy="47769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810A27-0A67-824D-848B-DF92C0F24543}"/>
              </a:ext>
            </a:extLst>
          </p:cNvPr>
          <p:cNvSpPr txBox="1"/>
          <p:nvPr userDrawn="1"/>
        </p:nvSpPr>
        <p:spPr>
          <a:xfrm>
            <a:off x="11311334" y="6474609"/>
            <a:ext cx="331788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fld id="{40876BFF-1584-4FA6-A406-00684317F9C8}" type="slidenum">
              <a:rPr lang="en-US" sz="1000" b="1" smtClean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‹#›</a:t>
            </a:fld>
            <a:endParaRPr lang="en-US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495EB05-7EDF-4044-9CEA-D481A9953A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56" y="6465116"/>
            <a:ext cx="649478" cy="1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771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63D7A-540E-425A-BEF5-69BB8D40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3CBEA5-6625-4A00-B51E-8641A4AE2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91985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D00FA-CA57-4FCA-BFA6-C374C16C9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0965A-09CA-4AA8-9C52-A5770F4234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3400" y="1825624"/>
            <a:ext cx="5486400" cy="44227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9E6E0D-8C89-4C4D-B2ED-BC0A4867F9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486400" cy="44227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D43614-C591-1C4D-B406-80E4FAFA209D}"/>
              </a:ext>
            </a:extLst>
          </p:cNvPr>
          <p:cNvSpPr/>
          <p:nvPr userDrawn="1"/>
        </p:nvSpPr>
        <p:spPr>
          <a:xfrm>
            <a:off x="11295856" y="6380308"/>
            <a:ext cx="362744" cy="47769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ID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4EDF3E-5B30-684D-9AF3-FF4A6345E030}"/>
              </a:ext>
            </a:extLst>
          </p:cNvPr>
          <p:cNvSpPr txBox="1"/>
          <p:nvPr userDrawn="1"/>
        </p:nvSpPr>
        <p:spPr>
          <a:xfrm>
            <a:off x="11311334" y="6474609"/>
            <a:ext cx="331788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fld id="{40876BFF-1584-4FA6-A406-00684317F9C8}" type="slidenum">
              <a:rPr lang="en-US" sz="1000" b="1" smtClean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‹#›</a:t>
            </a:fld>
            <a:endParaRPr lang="en-US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03B75EC-C578-2C40-9FAC-FDC1F395E71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56" y="6465116"/>
            <a:ext cx="649478" cy="1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770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B064-2B6B-4DB3-B5F2-73FB6436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365125"/>
            <a:ext cx="11128376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364BD-656F-49D4-978C-1EF0460DC8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400" y="1681163"/>
            <a:ext cx="5464175" cy="83704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CC1E74-B5DE-489B-8062-6F648F39AF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3400" y="2505074"/>
            <a:ext cx="5464175" cy="37433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D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D74AC3-B164-43D5-8EE3-2B3FACE1F0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48640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59746C-CBAC-4D9D-AFCA-8ED31A8889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486400" cy="37433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D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58B7B1-818C-D549-9796-F885BB8BA803}"/>
              </a:ext>
            </a:extLst>
          </p:cNvPr>
          <p:cNvSpPr/>
          <p:nvPr userDrawn="1"/>
        </p:nvSpPr>
        <p:spPr>
          <a:xfrm>
            <a:off x="11295856" y="6380308"/>
            <a:ext cx="362744" cy="47769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ID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86BBF8-A8A3-2F45-8CDA-D1DFDEFA5027}"/>
              </a:ext>
            </a:extLst>
          </p:cNvPr>
          <p:cNvSpPr txBox="1"/>
          <p:nvPr userDrawn="1"/>
        </p:nvSpPr>
        <p:spPr>
          <a:xfrm>
            <a:off x="11311334" y="6474609"/>
            <a:ext cx="331788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fld id="{40876BFF-1584-4FA6-A406-00684317F9C8}" type="slidenum">
              <a:rPr lang="en-US" sz="1000" b="1" smtClean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‹#›</a:t>
            </a:fld>
            <a:endParaRPr lang="en-US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970D4DF-77AC-F640-91A9-511F893D60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56" y="6465116"/>
            <a:ext cx="649478" cy="1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528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ADFF5-D2DF-4F4C-B84D-A9AF846D8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A335DA-55DD-F546-91D4-966DFB97BF85}"/>
              </a:ext>
            </a:extLst>
          </p:cNvPr>
          <p:cNvSpPr/>
          <p:nvPr userDrawn="1"/>
        </p:nvSpPr>
        <p:spPr>
          <a:xfrm>
            <a:off x="11295856" y="6380308"/>
            <a:ext cx="362744" cy="47769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ID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F5474C-0304-FB44-BFEF-420F959E659F}"/>
              </a:ext>
            </a:extLst>
          </p:cNvPr>
          <p:cNvSpPr txBox="1"/>
          <p:nvPr userDrawn="1"/>
        </p:nvSpPr>
        <p:spPr>
          <a:xfrm>
            <a:off x="11311334" y="6474609"/>
            <a:ext cx="331788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fld id="{40876BFF-1584-4FA6-A406-00684317F9C8}" type="slidenum">
              <a:rPr lang="en-US" sz="1000" b="1" smtClean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‹#›</a:t>
            </a:fld>
            <a:endParaRPr lang="en-US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91E20B9-0F8A-E644-B066-3635B0F3C3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56" y="6465116"/>
            <a:ext cx="649478" cy="1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2205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3190A20-3C04-DC4E-A880-61B87B2EC187}"/>
              </a:ext>
            </a:extLst>
          </p:cNvPr>
          <p:cNvSpPr/>
          <p:nvPr userDrawn="1"/>
        </p:nvSpPr>
        <p:spPr>
          <a:xfrm>
            <a:off x="11295856" y="6380308"/>
            <a:ext cx="362744" cy="47769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ID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B5C449-D20B-064B-9BC3-66C4F03460ED}"/>
              </a:ext>
            </a:extLst>
          </p:cNvPr>
          <p:cNvSpPr txBox="1"/>
          <p:nvPr userDrawn="1"/>
        </p:nvSpPr>
        <p:spPr>
          <a:xfrm>
            <a:off x="11311334" y="6474609"/>
            <a:ext cx="331788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fld id="{40876BFF-1584-4FA6-A406-00684317F9C8}" type="slidenum">
              <a:rPr lang="en-US" sz="1000" b="1" smtClean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‹#›</a:t>
            </a:fld>
            <a:endParaRPr lang="en-US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00CD30-031B-1E4F-8A4C-D91718A8645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56" y="6465116"/>
            <a:ext cx="649478" cy="1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188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539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33DCC-E58D-4E90-BD32-93612EB10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7CF97-5037-48C8-8243-48B5F78702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953ED2-55B1-4F90-9569-25377B50E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5BA77D-1837-FB4B-9C22-C05D840C8D47}"/>
              </a:ext>
            </a:extLst>
          </p:cNvPr>
          <p:cNvSpPr/>
          <p:nvPr userDrawn="1"/>
        </p:nvSpPr>
        <p:spPr>
          <a:xfrm>
            <a:off x="11295856" y="6380308"/>
            <a:ext cx="362744" cy="47769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ID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BDFF62-B7F1-3E4B-8AB5-5F46CE420CAC}"/>
              </a:ext>
            </a:extLst>
          </p:cNvPr>
          <p:cNvSpPr txBox="1"/>
          <p:nvPr userDrawn="1"/>
        </p:nvSpPr>
        <p:spPr>
          <a:xfrm>
            <a:off x="11311334" y="6474609"/>
            <a:ext cx="331788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fld id="{40876BFF-1584-4FA6-A406-00684317F9C8}" type="slidenum">
              <a:rPr lang="en-US" sz="1000" b="1" smtClean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‹#›</a:t>
            </a:fld>
            <a:endParaRPr lang="en-US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35C37BA-D441-7E4C-BEE2-4F4DDB6F01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56" y="6465116"/>
            <a:ext cx="649478" cy="1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4512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3295E-5F2E-469B-B4C3-767643F2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84A6C5-DA12-455A-81DD-2B5C41D0E9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A59A1D-8CC0-43CE-9EB7-F5DE71D0A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4155F6-992C-8A46-9F2F-5A404489679B}"/>
              </a:ext>
            </a:extLst>
          </p:cNvPr>
          <p:cNvSpPr/>
          <p:nvPr userDrawn="1"/>
        </p:nvSpPr>
        <p:spPr>
          <a:xfrm>
            <a:off x="11295856" y="6380308"/>
            <a:ext cx="362744" cy="47769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ID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34A233-B331-6544-AE59-8C93062DBD4D}"/>
              </a:ext>
            </a:extLst>
          </p:cNvPr>
          <p:cNvSpPr txBox="1"/>
          <p:nvPr userDrawn="1"/>
        </p:nvSpPr>
        <p:spPr>
          <a:xfrm>
            <a:off x="11311334" y="6474609"/>
            <a:ext cx="331788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fld id="{40876BFF-1584-4FA6-A406-00684317F9C8}" type="slidenum">
              <a:rPr lang="en-US" sz="1000" b="1" smtClean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‹#›</a:t>
            </a:fld>
            <a:endParaRPr lang="en-US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DC44CC5-8BDA-344D-B151-C38195073F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56" y="6465116"/>
            <a:ext cx="649478" cy="1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104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3B649-33B5-49E0-AF95-5C2F74360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3234-B853-4DD4-ACD3-949D5F2843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33400" y="1825624"/>
            <a:ext cx="11125200" cy="44227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50476C-AC13-0C41-A5BF-7DD639448237}"/>
              </a:ext>
            </a:extLst>
          </p:cNvPr>
          <p:cNvSpPr/>
          <p:nvPr userDrawn="1"/>
        </p:nvSpPr>
        <p:spPr>
          <a:xfrm>
            <a:off x="11295856" y="6380308"/>
            <a:ext cx="362744" cy="47769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ID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717987-E362-934D-A77D-074758D079F8}"/>
              </a:ext>
            </a:extLst>
          </p:cNvPr>
          <p:cNvSpPr txBox="1"/>
          <p:nvPr userDrawn="1"/>
        </p:nvSpPr>
        <p:spPr>
          <a:xfrm>
            <a:off x="11311334" y="6474609"/>
            <a:ext cx="331788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fld id="{40876BFF-1584-4FA6-A406-00684317F9C8}" type="slidenum">
              <a:rPr lang="en-US" sz="1000" b="1" smtClean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‹#›</a:t>
            </a:fld>
            <a:endParaRPr lang="en-US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D1667B1-421A-CD46-A900-6634FC6D1F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56" y="6465116"/>
            <a:ext cx="649478" cy="1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6880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74D309-A159-49EF-AA30-9AD12AF5DB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4"/>
            <a:ext cx="2933700" cy="58832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69772-6562-4B91-92CF-F6615BFA12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33400" y="365124"/>
            <a:ext cx="8039100" cy="58832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90D606-7DC0-8C48-9E7D-CFAFF0AEC24C}"/>
              </a:ext>
            </a:extLst>
          </p:cNvPr>
          <p:cNvSpPr/>
          <p:nvPr userDrawn="1"/>
        </p:nvSpPr>
        <p:spPr>
          <a:xfrm>
            <a:off x="11295856" y="6380308"/>
            <a:ext cx="362744" cy="47769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ID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708F47-4C2E-784A-B5ED-5CA57D343619}"/>
              </a:ext>
            </a:extLst>
          </p:cNvPr>
          <p:cNvSpPr txBox="1"/>
          <p:nvPr userDrawn="1"/>
        </p:nvSpPr>
        <p:spPr>
          <a:xfrm>
            <a:off x="11311334" y="6474609"/>
            <a:ext cx="331788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fld id="{40876BFF-1584-4FA6-A406-00684317F9C8}" type="slidenum">
              <a:rPr lang="en-US" sz="1000" b="1" smtClean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‹#›</a:t>
            </a:fld>
            <a:endParaRPr lang="en-US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F843B50-88EA-904A-9867-056A2D7243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56" y="6465116"/>
            <a:ext cx="649478" cy="1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590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04C8778-E6B3-CC41-8F0E-5881E13CE3B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367737272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6" imgW="7772400" imgH="10058400" progId="TCLayout.ActiveDocument.1">
                  <p:embed/>
                </p:oleObj>
              </mc:Choice>
              <mc:Fallback>
                <p:oleObj name="think-cell Slide" r:id="rId16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 hidden="1">
            <a:extLst>
              <a:ext uri="{FF2B5EF4-FFF2-40B4-BE49-F238E27FC236}">
                <a16:creationId xmlns:a16="http://schemas.microsoft.com/office/drawing/2014/main" id="{B621A934-B65D-CD4E-8BE0-77B3D33BC55F}"/>
              </a:ext>
            </a:extLst>
          </p:cNvPr>
          <p:cNvSpPr/>
          <p:nvPr userDrawn="1">
            <p:custDataLst>
              <p:tags r:id="rId15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lang="en-US" sz="4400" b="1" i="0" baseline="0" dirty="0">
              <a:latin typeface="Segoe UI" panose="020B0502040204020203" pitchFamily="34" charset="0"/>
              <a:ea typeface="+mj-ea"/>
              <a:sym typeface="Segoe UI" panose="020B0502040204020203" pitchFamily="34" charset="0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E9C95-668D-4C97-99D8-074E1701B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06400"/>
            <a:ext cx="11125200" cy="889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9BE55-B1B7-4BDF-8E9F-D05E93906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400" y="1524000"/>
            <a:ext cx="11125200" cy="4652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836658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36">
          <p15:clr>
            <a:srgbClr val="F26B43"/>
          </p15:clr>
        </p15:guide>
        <p15:guide id="2" pos="7344">
          <p15:clr>
            <a:srgbClr val="F26B43"/>
          </p15:clr>
        </p15:guide>
        <p15:guide id="3" orient="horz" pos="3936">
          <p15:clr>
            <a:srgbClr val="F26B43"/>
          </p15:clr>
        </p15:guide>
        <p15:guide id="5" orient="horz" pos="960">
          <p15:clr>
            <a:srgbClr val="F26B43"/>
          </p15:clr>
        </p15:guide>
        <p15:guide id="6" orient="horz" pos="8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4.xml"/><Relationship Id="rId6" Type="http://schemas.openxmlformats.org/officeDocument/2006/relationships/image" Target="../media/image4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6.emf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6.emf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6.emf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6.emf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5.xml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3.xml"/><Relationship Id="rId6" Type="http://schemas.openxmlformats.org/officeDocument/2006/relationships/image" Target="../media/image11.png"/><Relationship Id="rId5" Type="http://schemas.openxmlformats.org/officeDocument/2006/relationships/image" Target="../media/image10.emf"/><Relationship Id="rId4" Type="http://schemas.openxmlformats.org/officeDocument/2006/relationships/oleObject" Target="../embeddings/oleObject2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4.xml"/><Relationship Id="rId6" Type="http://schemas.openxmlformats.org/officeDocument/2006/relationships/image" Target="../media/image12.png"/><Relationship Id="rId5" Type="http://schemas.openxmlformats.org/officeDocument/2006/relationships/image" Target="../media/image10.emf"/><Relationship Id="rId4" Type="http://schemas.openxmlformats.org/officeDocument/2006/relationships/oleObject" Target="../embeddings/oleObject2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5.xml"/><Relationship Id="rId5" Type="http://schemas.openxmlformats.org/officeDocument/2006/relationships/image" Target="../media/image10.emf"/><Relationship Id="rId4" Type="http://schemas.openxmlformats.org/officeDocument/2006/relationships/oleObject" Target="../embeddings/oleObject2.bin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6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EFD45-EFDD-82ED-6674-35996032C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4F8C6F6-8FD6-C3EE-CB03-E7266F32B8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9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graphicFrame>
        <p:nvGraphicFramePr>
          <p:cNvPr id="13" name="Object 12" hidden="1">
            <a:extLst>
              <a:ext uri="{FF2B5EF4-FFF2-40B4-BE49-F238E27FC236}">
                <a16:creationId xmlns:a16="http://schemas.microsoft.com/office/drawing/2014/main" id="{AD9CD690-400F-85D6-78F5-2A5566DA899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13" name="Object 12" hidden="1">
                        <a:extLst>
                          <a:ext uri="{FF2B5EF4-FFF2-40B4-BE49-F238E27FC236}">
                            <a16:creationId xmlns:a16="http://schemas.microsoft.com/office/drawing/2014/main" id="{CE131B47-9CE7-B6F6-E726-7AB91D8FA2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9AEEEFE-FEB0-22EE-7DFD-5C3F4CE15BB0}"/>
              </a:ext>
            </a:extLst>
          </p:cNvPr>
          <p:cNvSpPr txBox="1"/>
          <p:nvPr/>
        </p:nvSpPr>
        <p:spPr>
          <a:xfrm>
            <a:off x="936747" y="3490556"/>
            <a:ext cx="10318504" cy="10464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zh-CN" altLang="zh-CN" sz="4000" dirty="0">
                <a:latin typeface="Impact" panose="020B0806030902050204" pitchFamily="34" charset="0"/>
              </a:rPr>
              <a:t>Netflix Strategy Analysis</a:t>
            </a:r>
            <a:endParaRPr lang="en-US" altLang="zh-CN" sz="4000" dirty="0">
              <a:latin typeface="Impact" panose="020B0806030902050204" pitchFamily="34" charset="0"/>
            </a:endParaRPr>
          </a:p>
          <a:p>
            <a:pPr algn="ctr"/>
            <a:r>
              <a:rPr lang="en-US" altLang="zh-CN" sz="2800" i="1" dirty="0">
                <a:latin typeface="Calibri" panose="020F0502020204030204" pitchFamily="34" charset="0"/>
                <a:cs typeface="Calibri" panose="020F0502020204030204" pitchFamily="34" charset="0"/>
              </a:rPr>
              <a:t>Cross-Platform Content Analysis, SWOT &amp; Strategic Recommendation</a:t>
            </a:r>
            <a:endParaRPr lang="en-US" sz="1600" dirty="0">
              <a:solidFill>
                <a:schemeClr val="bg1"/>
              </a:solidFill>
              <a:latin typeface="Segoe UI Light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3F9F61-1B0C-A2CA-E8F3-5EECF9EA7939}"/>
              </a:ext>
            </a:extLst>
          </p:cNvPr>
          <p:cNvSpPr txBox="1"/>
          <p:nvPr/>
        </p:nvSpPr>
        <p:spPr>
          <a:xfrm>
            <a:off x="5467349" y="4716048"/>
            <a:ext cx="1257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dirty="0">
                <a:latin typeface="Calibri" panose="020F0502020204030204" pitchFamily="34" charset="0"/>
                <a:cs typeface="Calibri" panose="020F0502020204030204" pitchFamily="34" charset="0"/>
              </a:rPr>
              <a:t>Naqiao Gu</a:t>
            </a:r>
          </a:p>
          <a:p>
            <a:pPr algn="ctr"/>
            <a:r>
              <a:rPr lang="zh-CN" altLang="zh-CN" dirty="0">
                <a:latin typeface="Calibri" panose="020F0502020204030204" pitchFamily="34" charset="0"/>
                <a:cs typeface="Calibri" panose="020F0502020204030204" pitchFamily="34" charset="0"/>
              </a:rPr>
              <a:t>July 2026</a:t>
            </a:r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0B02749-84F2-AE58-8DBC-083FA0B425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563" y="1421934"/>
            <a:ext cx="6976872" cy="1889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328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DC085-1046-FCCE-7851-6231D2789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F0E88A67-BF84-8775-39FB-7D7A953701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9" b="4266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588B4F-A71D-A12B-691E-93BD341D47C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7772400" imgH="10058400" progId="TCLayout.ActiveDocument.1">
                  <p:embed/>
                </p:oleObj>
              </mc:Choice>
              <mc:Fallback>
                <p:oleObj name="think-cell Slide" r:id="rId6" imgW="7772400" imgH="10058400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1892B8D2-9841-8845-89AA-71EAC2A5C0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355F7D96-8858-B423-5620-64582C68B27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en-US" sz="5400" b="1" dirty="0">
              <a:latin typeface="Segoe UI" panose="020B0502040204020203" pitchFamily="34" charset="0"/>
              <a:ea typeface="+mj-ea"/>
              <a:sym typeface="Segoe UI" panose="020B0502040204020203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503BCC-BB25-E98A-18F8-80ED107EB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1747" y="510829"/>
            <a:ext cx="9548506" cy="609398"/>
          </a:xfrm>
        </p:spPr>
        <p:txBody>
          <a:bodyPr wrap="square" lIns="0" tIns="0" rIns="0" bIns="0">
            <a:spAutoFit/>
          </a:bodyPr>
          <a:lstStyle/>
          <a:p>
            <a:r>
              <a:rPr lang="zh-CN" altLang="zh-CN" dirty="0"/>
              <a:t>Project Overview</a:t>
            </a:r>
            <a:endParaRPr lang="en-US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2FCFB-A788-CAED-1EF2-115666CBBBAC}"/>
              </a:ext>
            </a:extLst>
          </p:cNvPr>
          <p:cNvSpPr/>
          <p:nvPr/>
        </p:nvSpPr>
        <p:spPr>
          <a:xfrm>
            <a:off x="1321747" y="1631056"/>
            <a:ext cx="9715409" cy="387798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>
              <a:buNone/>
            </a:pPr>
            <a:r>
              <a:rPr lang="zh-CN" altLang="zh-CN" b="1" dirty="0"/>
              <a:t>Business Problem</a:t>
            </a:r>
            <a:br>
              <a:rPr lang="zh-CN" altLang="zh-CN" dirty="0"/>
            </a:br>
            <a:r>
              <a:rPr lang="zh-CN" altLang="zh-CN" dirty="0"/>
              <a:t>Streaming platforms compete on content volume, genre variety, and content quality.</a:t>
            </a:r>
            <a:endParaRPr lang="en-US" altLang="zh-CN" dirty="0"/>
          </a:p>
          <a:p>
            <a:pPr>
              <a:buNone/>
            </a:pPr>
            <a:endParaRPr lang="zh-CN" altLang="zh-CN" dirty="0"/>
          </a:p>
          <a:p>
            <a:pPr>
              <a:buNone/>
            </a:pPr>
            <a:r>
              <a:rPr lang="zh-CN" altLang="zh-CN" b="1" dirty="0"/>
              <a:t>Project Objective</a:t>
            </a:r>
            <a:br>
              <a:rPr lang="zh-CN" altLang="zh-CN" dirty="0"/>
            </a:br>
            <a:r>
              <a:rPr lang="zh-CN" altLang="zh-CN" dirty="0"/>
              <a:t>Identify strategic opportunities for Netflix based on its content portfolio and competitive position.</a:t>
            </a:r>
            <a:endParaRPr lang="en-US" altLang="zh-CN" dirty="0"/>
          </a:p>
          <a:p>
            <a:pPr>
              <a:buNone/>
            </a:pPr>
            <a:endParaRPr lang="zh-CN" altLang="zh-CN" dirty="0"/>
          </a:p>
          <a:p>
            <a:pPr>
              <a:buNone/>
            </a:pPr>
            <a:r>
              <a:rPr lang="zh-CN" altLang="zh-CN" b="1" dirty="0"/>
              <a:t>Data &amp; Scope</a:t>
            </a:r>
            <a:br>
              <a:rPr lang="zh-CN" altLang="zh-CN" dirty="0"/>
            </a:br>
            <a:r>
              <a:rPr lang="zh-CN" altLang="zh-CN" dirty="0"/>
              <a:t>The dataset covers movies and TV shows available on Netflix, Hulu, Prime Video, and Disney+.</a:t>
            </a:r>
            <a:endParaRPr lang="en-US" altLang="zh-CN" dirty="0"/>
          </a:p>
          <a:p>
            <a:pPr>
              <a:buNone/>
            </a:pPr>
            <a:endParaRPr lang="zh-CN" altLang="zh-CN" dirty="0"/>
          </a:p>
          <a:p>
            <a:pPr>
              <a:buNone/>
            </a:pPr>
            <a:r>
              <a:rPr lang="zh-CN" altLang="zh-CN" b="1" dirty="0"/>
              <a:t>Analysis Focus</a:t>
            </a:r>
            <a:br>
              <a:rPr lang="zh-CN" altLang="zh-CN" dirty="0"/>
            </a:br>
            <a:r>
              <a:rPr lang="zh-CN" altLang="zh-CN" dirty="0"/>
              <a:t>Content volume, release-year patterns, genre mix, IMDb ratings, Rotten Tomatoes scores, and strategic recommendation.</a:t>
            </a:r>
            <a:endParaRPr lang="en-US" altLang="zh-CN" dirty="0"/>
          </a:p>
          <a:p>
            <a:pPr>
              <a:buNone/>
            </a:pPr>
            <a:endParaRPr lang="zh-CN" altLang="zh-CN" dirty="0"/>
          </a:p>
          <a:p>
            <a:pPr>
              <a:buNone/>
            </a:pPr>
            <a:r>
              <a:rPr lang="zh-CN" altLang="zh-CN" b="1" dirty="0"/>
              <a:t>Netflix was selected for the final platform-level strategy analysis.</a:t>
            </a:r>
            <a:endParaRPr lang="zh-CN" altLang="zh-CN" dirty="0"/>
          </a:p>
        </p:txBody>
      </p:sp>
    </p:spTree>
    <p:extLst>
      <p:ext uri="{BB962C8B-B14F-4D97-AF65-F5344CB8AC3E}">
        <p14:creationId xmlns:p14="http://schemas.microsoft.com/office/powerpoint/2010/main" val="875750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2E6F583-BBFC-7716-82D0-0A8D13B6E8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9" b="4266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1892B8D2-9841-8845-89AA-71EAC2A5C0E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0900732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7772400" imgH="10058400" progId="TCLayout.ActiveDocument.1">
                  <p:embed/>
                </p:oleObj>
              </mc:Choice>
              <mc:Fallback>
                <p:oleObj name="think-cell Slide" r:id="rId6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B377C045-D98A-A24A-853E-65BBEE7EFDAD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en-US" sz="5400" b="1" dirty="0">
              <a:latin typeface="Segoe UI" panose="020B0502040204020203" pitchFamily="34" charset="0"/>
              <a:ea typeface="+mj-ea"/>
              <a:sym typeface="Segoe UI" panose="020B0502040204020203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94C710-0156-BD43-B088-064424BC9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1746" y="510829"/>
            <a:ext cx="10693469" cy="609398"/>
          </a:xfrm>
        </p:spPr>
        <p:txBody>
          <a:bodyPr wrap="square" lIns="0" tIns="0" rIns="0" bIns="0">
            <a:spAutoFit/>
          </a:bodyPr>
          <a:lstStyle/>
          <a:p>
            <a:r>
              <a:rPr lang="zh-CN" altLang="zh-CN" dirty="0"/>
              <a:t>Industry Landscape: Five Forces</a:t>
            </a:r>
            <a:endParaRPr lang="en-US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52E7B1F-469E-384F-8DE4-5F6E65AEF74F}"/>
              </a:ext>
            </a:extLst>
          </p:cNvPr>
          <p:cNvSpPr/>
          <p:nvPr/>
        </p:nvSpPr>
        <p:spPr>
          <a:xfrm>
            <a:off x="1321746" y="3429000"/>
            <a:ext cx="9715409" cy="270843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r>
              <a:rPr lang="zh-CN" altLang="zh-CN" sz="1600" b="1" dirty="0">
                <a:latin typeface="Calibri" panose="020F0502020204030204" pitchFamily="34" charset="0"/>
                <a:cs typeface="Calibri" panose="020F0502020204030204" pitchFamily="34" charset="0"/>
              </a:rPr>
              <a:t>Overall Industry Assessment</a:t>
            </a:r>
          </a:p>
          <a:p>
            <a:r>
              <a:rPr lang="zh-CN" altLang="zh-CN" sz="1600" b="1" dirty="0"/>
              <a:t>Competitive Rivalry:</a:t>
            </a:r>
            <a:r>
              <a:rPr lang="zh-CN" altLang="zh-CN" sz="1600" dirty="0"/>
              <a:t> Netflix is competing with Prime Video, Hulu, and Disney+ not only on content size, but also on original titles and content quality. </a:t>
            </a:r>
            <a:endParaRPr lang="en-US" altLang="zh-CN" sz="1600" dirty="0"/>
          </a:p>
          <a:p>
            <a:r>
              <a:rPr lang="zh-CN" altLang="zh-CN" sz="1600" b="1" dirty="0"/>
              <a:t>Threat of New Entrants:</a:t>
            </a:r>
            <a:r>
              <a:rPr lang="zh-CN" altLang="zh-CN" sz="1600" dirty="0"/>
              <a:t> Starting a streaming platform is possible, but matching Netflix’s scale, brand recognition, and global reach would be difficult and expensive. </a:t>
            </a:r>
            <a:endParaRPr lang="en-US" altLang="zh-CN" sz="1600" dirty="0"/>
          </a:p>
          <a:p>
            <a:r>
              <a:rPr lang="zh-CN" altLang="zh-CN" sz="1600" b="1" dirty="0"/>
              <a:t>Supplier Power:</a:t>
            </a:r>
            <a:r>
              <a:rPr lang="zh-CN" altLang="zh-CN" sz="1600" dirty="0"/>
              <a:t> Netflix depends on studios, creators, and IP owners for popular content, which can increase licensing and production costs. </a:t>
            </a:r>
            <a:endParaRPr lang="en-US" altLang="zh-CN" sz="1600" dirty="0"/>
          </a:p>
          <a:p>
            <a:r>
              <a:rPr lang="zh-CN" altLang="zh-CN" sz="1600" b="1" dirty="0"/>
              <a:t>Customer Power:</a:t>
            </a:r>
            <a:r>
              <a:rPr lang="zh-CN" altLang="zh-CN" sz="1600" dirty="0"/>
              <a:t> Subscribers can easily leave Netflix when they do not see enough new or valuable content, since switching to another platform is simple. </a:t>
            </a:r>
            <a:endParaRPr lang="en-US" altLang="zh-CN" sz="1600" dirty="0"/>
          </a:p>
          <a:p>
            <a:r>
              <a:rPr lang="zh-CN" altLang="zh-CN" sz="1600" b="1" dirty="0"/>
              <a:t>Threat of Substitutes:</a:t>
            </a:r>
            <a:r>
              <a:rPr lang="zh-CN" altLang="zh-CN" sz="1600" dirty="0"/>
              <a:t> Netflix also competes with YouTube, TikTok, gaming, and social media for the same limited entertainment time.</a:t>
            </a:r>
            <a:endParaRPr lang="zh-CN" altLang="zh-CN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F430D051-4BFF-E435-04CC-A4FD9DF015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5324449"/>
              </p:ext>
            </p:extLst>
          </p:nvPr>
        </p:nvGraphicFramePr>
        <p:xfrm>
          <a:off x="1321746" y="1297327"/>
          <a:ext cx="722593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2965">
                  <a:extLst>
                    <a:ext uri="{9D8B030D-6E8A-4147-A177-3AD203B41FA5}">
                      <a16:colId xmlns:a16="http://schemas.microsoft.com/office/drawing/2014/main" val="4184799015"/>
                    </a:ext>
                  </a:extLst>
                </a:gridCol>
                <a:gridCol w="3612965">
                  <a:extLst>
                    <a:ext uri="{9D8B030D-6E8A-4147-A177-3AD203B41FA5}">
                      <a16:colId xmlns:a16="http://schemas.microsoft.com/office/drawing/2014/main" val="1260326885"/>
                    </a:ext>
                  </a:extLst>
                </a:gridCol>
              </a:tblGrid>
              <a:tr h="314493">
                <a:tc>
                  <a:txBody>
                    <a:bodyPr/>
                    <a:lstStyle/>
                    <a:p>
                      <a:r>
                        <a:rPr lang="zh-CN" altLang="zh-CN" sz="1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Force</a:t>
                      </a:r>
                      <a:endParaRPr lang="zh-CN" altLang="en-US" sz="1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Risk Level</a:t>
                      </a:r>
                      <a:endParaRPr lang="zh-CN" altLang="en-US" sz="1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2773122"/>
                  </a:ext>
                </a:extLst>
              </a:tr>
              <a:tr h="3144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Competitive Rivalry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zh-CN" sz="1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Very High</a:t>
                      </a:r>
                      <a:endParaRPr lang="zh-CN" sz="1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7402304"/>
                  </a:ext>
                </a:extLst>
              </a:tr>
              <a:tr h="314493">
                <a:tc>
                  <a:txBody>
                    <a:bodyPr/>
                    <a:lstStyle/>
                    <a:p>
                      <a:r>
                        <a:rPr lang="zh-CN" altLang="zh-CN" sz="1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Threat of New Entrants</a:t>
                      </a:r>
                      <a:endParaRPr lang="zh-CN" altLang="en-US" sz="1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Moderate</a:t>
                      </a:r>
                      <a:endParaRPr lang="zh-CN" altLang="en-US" sz="1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4200938"/>
                  </a:ext>
                </a:extLst>
              </a:tr>
              <a:tr h="314493">
                <a:tc>
                  <a:txBody>
                    <a:bodyPr/>
                    <a:lstStyle/>
                    <a:p>
                      <a:r>
                        <a:rPr lang="zh-CN" altLang="zh-CN" sz="1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Bargaining Power of Suppliers</a:t>
                      </a:r>
                      <a:endParaRPr lang="zh-CN" altLang="en-US" sz="1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High</a:t>
                      </a:r>
                      <a:endParaRPr lang="zh-CN" altLang="en-US" sz="1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5521138"/>
                  </a:ext>
                </a:extLst>
              </a:tr>
              <a:tr h="314493">
                <a:tc>
                  <a:txBody>
                    <a:bodyPr/>
                    <a:lstStyle/>
                    <a:p>
                      <a:r>
                        <a:rPr lang="zh-CN" altLang="zh-CN" sz="1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Bargaining Power of Customers</a:t>
                      </a:r>
                      <a:endParaRPr lang="zh-CN" altLang="en-US" sz="1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Very High</a:t>
                      </a:r>
                      <a:endParaRPr lang="zh-CN" altLang="en-US" sz="1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2869514"/>
                  </a:ext>
                </a:extLst>
              </a:tr>
              <a:tr h="314493">
                <a:tc>
                  <a:txBody>
                    <a:bodyPr/>
                    <a:lstStyle/>
                    <a:p>
                      <a:r>
                        <a:rPr lang="zh-CN" altLang="zh-CN" sz="1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Threat of Substitutes</a:t>
                      </a:r>
                      <a:endParaRPr lang="zh-CN" altLang="en-US" sz="1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Very High</a:t>
                      </a:r>
                      <a:endParaRPr lang="zh-CN" altLang="en-US" sz="1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07987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9868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B85C2-C78A-BA6F-5F4B-091CAF27B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291385D4-3DD6-C0DF-1DCF-FEA67F6E63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9" b="4266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18EBBCA2-2219-64CB-DC07-37BB5824B42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7772400" imgH="10058400" progId="TCLayout.ActiveDocument.1">
                  <p:embed/>
                </p:oleObj>
              </mc:Choice>
              <mc:Fallback>
                <p:oleObj name="think-cell Slide" r:id="rId6" imgW="7772400" imgH="10058400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296497A-1647-378A-E081-840F3DF2A4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E360EF2-430E-C53A-D73C-60906D97F68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en-US" sz="5400" b="1" dirty="0">
              <a:latin typeface="Segoe UI" panose="020B0502040204020203" pitchFamily="34" charset="0"/>
              <a:ea typeface="+mj-ea"/>
              <a:sym typeface="Segoe UI" panose="020B0502040204020203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97D079-3211-FBDE-9B13-C8485EBC7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1747" y="510829"/>
            <a:ext cx="9548506" cy="609398"/>
          </a:xfrm>
        </p:spPr>
        <p:txBody>
          <a:bodyPr wrap="square" lIns="0" tIns="0" rIns="0" bIns="0">
            <a:spAutoFit/>
          </a:bodyPr>
          <a:lstStyle/>
          <a:p>
            <a:r>
              <a:rPr lang="zh-CN" altLang="zh-CN" dirty="0"/>
              <a:t>Platform Strategy Analysis</a:t>
            </a:r>
            <a:endParaRPr lang="en-US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722DB8-EEF4-6D6B-480F-CA43EB3BCB91}"/>
              </a:ext>
            </a:extLst>
          </p:cNvPr>
          <p:cNvSpPr/>
          <p:nvPr/>
        </p:nvSpPr>
        <p:spPr>
          <a:xfrm>
            <a:off x="1166300" y="1284819"/>
            <a:ext cx="4427838" cy="430887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r>
              <a:rPr lang="en-US" altLang="zh-CN" sz="1400" b="1" dirty="0">
                <a:latin typeface="Calibri" panose="020F0502020204030204" pitchFamily="34" charset="0"/>
                <a:cs typeface="Calibri" panose="020F0502020204030204" pitchFamily="34" charset="0"/>
              </a:rPr>
              <a:t>Release-Year Pattern</a:t>
            </a:r>
          </a:p>
          <a:p>
            <a:r>
              <a:rPr lang="en-US" altLang="zh-CN" sz="1400" dirty="0">
                <a:latin typeface="Calibri" panose="020F0502020204030204" pitchFamily="34" charset="0"/>
                <a:cs typeface="Calibri" panose="020F0502020204030204" pitchFamily="34" charset="0"/>
              </a:rPr>
              <a:t>Across all four platforms, title counts are concentrated in more recent release years.</a:t>
            </a:r>
          </a:p>
          <a:p>
            <a:endParaRPr lang="en-US" altLang="zh-CN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CN" sz="1400" b="1" dirty="0">
                <a:latin typeface="Calibri" panose="020F0502020204030204" pitchFamily="34" charset="0"/>
                <a:cs typeface="Calibri" panose="020F0502020204030204" pitchFamily="34" charset="0"/>
              </a:rPr>
              <a:t>Netflix Position</a:t>
            </a:r>
          </a:p>
          <a:p>
            <a:r>
              <a:rPr lang="en-US" altLang="zh-CN" sz="1400" dirty="0">
                <a:latin typeface="Calibri" panose="020F0502020204030204" pitchFamily="34" charset="0"/>
                <a:cs typeface="Calibri" panose="020F0502020204030204" pitchFamily="34" charset="0"/>
              </a:rPr>
              <a:t>Netflix shows a strong catalog concentration in the mid-to-late 2010s.</a:t>
            </a:r>
          </a:p>
          <a:p>
            <a:endParaRPr lang="en-US" altLang="zh-CN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CN" sz="1400" b="1" dirty="0">
                <a:latin typeface="Calibri" panose="020F0502020204030204" pitchFamily="34" charset="0"/>
                <a:cs typeface="Calibri" panose="020F0502020204030204" pitchFamily="34" charset="0"/>
              </a:rPr>
              <a:t>Competitive Context</a:t>
            </a:r>
          </a:p>
          <a:p>
            <a:r>
              <a:rPr lang="en-US" altLang="zh-CN" sz="1400" dirty="0">
                <a:latin typeface="Calibri" panose="020F0502020204030204" pitchFamily="34" charset="0"/>
                <a:cs typeface="Calibri" panose="020F0502020204030204" pitchFamily="34" charset="0"/>
              </a:rPr>
              <a:t>Similar patterns across competitors suggest that catalog freshness is an industry standard rather than a unique Netflix advantage.</a:t>
            </a:r>
          </a:p>
          <a:p>
            <a:endParaRPr lang="en-US" altLang="zh-CN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CN" sz="1400" b="1" dirty="0">
                <a:latin typeface="Calibri" panose="020F0502020204030204" pitchFamily="34" charset="0"/>
                <a:cs typeface="Calibri" panose="020F0502020204030204" pitchFamily="34" charset="0"/>
              </a:rPr>
              <a:t>Strategic Limitation</a:t>
            </a:r>
          </a:p>
          <a:p>
            <a:r>
              <a:rPr lang="en-US" altLang="zh-CN" sz="1400" dirty="0">
                <a:latin typeface="Calibri" panose="020F0502020204030204" pitchFamily="34" charset="0"/>
                <a:cs typeface="Calibri" panose="020F0502020204030204" pitchFamily="34" charset="0"/>
              </a:rPr>
              <a:t>Release-year distribution measures catalog recency and volume, but does not directly measure content quality.</a:t>
            </a:r>
          </a:p>
          <a:p>
            <a:endParaRPr lang="en-US" altLang="zh-CN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CN" sz="1400" b="1" dirty="0">
                <a:latin typeface="Calibri" panose="020F0502020204030204" pitchFamily="34" charset="0"/>
                <a:cs typeface="Calibri" panose="020F0502020204030204" pitchFamily="34" charset="0"/>
              </a:rPr>
              <a:t>Strategic Implication</a:t>
            </a:r>
          </a:p>
          <a:p>
            <a:r>
              <a:rPr lang="en-US" altLang="zh-CN" sz="1400" dirty="0">
                <a:latin typeface="Calibri" panose="020F0502020204030204" pitchFamily="34" charset="0"/>
                <a:cs typeface="Calibri" panose="020F0502020204030204" pitchFamily="34" charset="0"/>
              </a:rPr>
              <a:t>Netflix should maintain catalog freshness while competing more selectively on content quality.</a:t>
            </a:r>
            <a:endParaRPr lang="zh-CN" altLang="zh-CN" sz="1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DAB88F96-6801-C18E-6D0E-9A066BAC8B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900" y="1669018"/>
            <a:ext cx="6354756" cy="291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011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42149-D445-1D0F-4FD5-D0BA8477A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C8F19530-321D-B631-9BF7-19A2112648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9" b="4266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3C97E13-CC9A-F249-6D47-7555DB72096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7772400" imgH="10058400" progId="TCLayout.ActiveDocument.1">
                  <p:embed/>
                </p:oleObj>
              </mc:Choice>
              <mc:Fallback>
                <p:oleObj name="think-cell Slide" r:id="rId6" imgW="7772400" imgH="10058400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18EBBCA2-2219-64CB-DC07-37BB5824B4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CBBA64C5-7743-CEF4-3A42-B6F8293CC74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en-US" sz="5400" b="1" dirty="0">
              <a:latin typeface="Segoe UI" panose="020B0502040204020203" pitchFamily="34" charset="0"/>
              <a:ea typeface="+mj-ea"/>
              <a:sym typeface="Segoe UI" panose="020B0502040204020203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667AB9-3B6C-E9F9-73E1-50D2B3953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1747" y="510829"/>
            <a:ext cx="10803578" cy="609398"/>
          </a:xfrm>
        </p:spPr>
        <p:txBody>
          <a:bodyPr wrap="square" lIns="0" tIns="0" rIns="0" bIns="0">
            <a:spAutoFit/>
          </a:bodyPr>
          <a:lstStyle/>
          <a:p>
            <a:r>
              <a:rPr lang="zh-CN" altLang="zh-CN" dirty="0"/>
              <a:t>Netflix Content Mix</a:t>
            </a:r>
            <a:endParaRPr lang="en-US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7093163-BC1F-859D-D329-69B26B5F38E1}"/>
              </a:ext>
            </a:extLst>
          </p:cNvPr>
          <p:cNvSpPr/>
          <p:nvPr/>
        </p:nvSpPr>
        <p:spPr>
          <a:xfrm>
            <a:off x="1321747" y="4685999"/>
            <a:ext cx="9841553" cy="83099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r>
              <a:rPr lang="zh-CN" altLang="zh-CN" dirty="0"/>
              <a:t>Movies make up about two-thirds of Netflix’s catalog. Drama film and reality television are the two largest genre categories. Since movies represent the largest share of the catalog, improving future movie quality would strengthen a major part of Netflix’s content strategy.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1325DFC3-C7C4-B00C-5382-B4D9B536D43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1341003"/>
            <a:ext cx="4215289" cy="3145271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69D85125-A63A-E828-150A-45DF2478CB0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747" y="1341004"/>
            <a:ext cx="4215289" cy="31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243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FC834C9F-8810-4082-426C-382A0D96EC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9" b="4266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3F3C08A-C01E-B941-9F2F-BC97296C43B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8082186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D429926-8205-864D-8718-4CDAB1F26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0781" y="369738"/>
            <a:ext cx="11817123" cy="889000"/>
          </a:xfrm>
        </p:spPr>
        <p:txBody>
          <a:bodyPr>
            <a:normAutofit/>
          </a:bodyPr>
          <a:lstStyle/>
          <a:p>
            <a:r>
              <a:rPr lang="zh-CN" altLang="zh-CN" sz="3600" dirty="0"/>
              <a:t>Netflix SWOT Analysis: Strength &amp; Opportunity</a:t>
            </a:r>
            <a:endParaRPr lang="en-US" sz="36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10081E-F1B5-3042-9953-CB0E331E4F08}"/>
              </a:ext>
            </a:extLst>
          </p:cNvPr>
          <p:cNvSpPr/>
          <p:nvPr/>
        </p:nvSpPr>
        <p:spPr>
          <a:xfrm>
            <a:off x="1130780" y="1382286"/>
            <a:ext cx="4071448" cy="409342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/>
          <a:p>
            <a:r>
              <a:rPr lang="zh-CN" altLang="zh-CN" sz="1400" b="1" dirty="0"/>
              <a:t>Strength</a:t>
            </a:r>
          </a:p>
          <a:p>
            <a:r>
              <a:rPr lang="zh-CN" altLang="zh-CN" sz="1400" b="1" dirty="0"/>
              <a:t>Observation:</a:t>
            </a:r>
            <a:br>
              <a:rPr lang="zh-CN" altLang="zh-CN" sz="1400" dirty="0"/>
            </a:br>
            <a:r>
              <a:rPr lang="zh-CN" altLang="zh-CN" sz="1400" dirty="0"/>
              <a:t>Netflix has one of the largest content libraries in the comparison, with about 3.7K movies and 2.0K TV shows.</a:t>
            </a:r>
          </a:p>
          <a:p>
            <a:r>
              <a:rPr lang="zh-CN" altLang="zh-CN" sz="1400" b="1" dirty="0"/>
              <a:t>Evidence:</a:t>
            </a:r>
            <a:br>
              <a:rPr lang="zh-CN" altLang="zh-CN" sz="1400" dirty="0"/>
            </a:br>
            <a:r>
              <a:rPr lang="zh-CN" altLang="zh-CN" sz="1400" dirty="0"/>
              <a:t>Content Volume Comparison (Fig. 6.2)</a:t>
            </a:r>
          </a:p>
          <a:p>
            <a:r>
              <a:rPr lang="zh-CN" altLang="zh-CN" sz="1400" b="1" dirty="0"/>
              <a:t>Strategic implication:</a:t>
            </a:r>
            <a:br>
              <a:rPr lang="zh-CN" altLang="zh-CN" sz="1400" dirty="0"/>
            </a:br>
            <a:r>
              <a:rPr lang="zh-CN" altLang="zh-CN" sz="1400" dirty="0"/>
              <a:t>Its large catalog gives viewers more choices across movies and TV shows.</a:t>
            </a:r>
            <a:endParaRPr lang="en-US" altLang="zh-CN" sz="1400" dirty="0"/>
          </a:p>
          <a:p>
            <a:endParaRPr lang="zh-CN" altLang="zh-CN" sz="1400" dirty="0"/>
          </a:p>
          <a:p>
            <a:r>
              <a:rPr lang="zh-CN" altLang="zh-CN" sz="1400" b="1" dirty="0"/>
              <a:t>Opportunity</a:t>
            </a:r>
          </a:p>
          <a:p>
            <a:r>
              <a:rPr lang="zh-CN" altLang="zh-CN" sz="1400" b="1" dirty="0"/>
              <a:t>Market gap observed:</a:t>
            </a:r>
            <a:br>
              <a:rPr lang="zh-CN" altLang="zh-CN" sz="1400" dirty="0"/>
            </a:br>
            <a:r>
              <a:rPr lang="zh-CN" altLang="zh-CN" sz="1400" dirty="0"/>
              <a:t>Netflix already has a large movie catalog, so adding more movies alone may not create a strong competitive advantage.</a:t>
            </a:r>
          </a:p>
          <a:p>
            <a:r>
              <a:rPr lang="zh-CN" altLang="zh-CN" sz="1400" b="1" dirty="0"/>
              <a:t>Strategic opportunity:</a:t>
            </a:r>
            <a:br>
              <a:rPr lang="zh-CN" altLang="zh-CN" sz="1400" dirty="0"/>
            </a:br>
            <a:r>
              <a:rPr lang="zh-CN" altLang="zh-CN" sz="1400" dirty="0"/>
              <a:t>Netflix should place more emphasis on the quality of future movie investments rather than continuing to expand movie volume.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2E22DDD-12EF-77F0-535F-FFA2C61FA2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7383" y="1628476"/>
            <a:ext cx="6099462" cy="3021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42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B458-9B67-DE21-0D13-13317994A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4BEE6108-7311-806B-6BBB-7872B7EEE2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9" b="4266"/>
          <a:stretch>
            <a:fillRect/>
          </a:stretch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719B468-1ACC-3FC6-C11F-0FA18426960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3F3C08A-C01E-B941-9F2F-BC97296C43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087F102-3B6F-CB74-7DA8-00C218775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0781" y="369738"/>
            <a:ext cx="11817123" cy="889000"/>
          </a:xfrm>
        </p:spPr>
        <p:txBody>
          <a:bodyPr>
            <a:normAutofit/>
          </a:bodyPr>
          <a:lstStyle/>
          <a:p>
            <a:r>
              <a:rPr lang="zh-CN" altLang="zh-CN" sz="3600" dirty="0"/>
              <a:t>Netflix SWOT Analysis: Weakness &amp; Threat</a:t>
            </a:r>
            <a:endParaRPr lang="en-US" sz="36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9E3656-29C7-C59F-314D-C148378DB39C}"/>
              </a:ext>
            </a:extLst>
          </p:cNvPr>
          <p:cNvSpPr/>
          <p:nvPr/>
        </p:nvSpPr>
        <p:spPr>
          <a:xfrm>
            <a:off x="1130781" y="1366460"/>
            <a:ext cx="4071448" cy="4524315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/>
          <a:p>
            <a:r>
              <a:rPr lang="zh-CN" altLang="zh-CN" sz="1400" b="1" dirty="0"/>
              <a:t>Weakness</a:t>
            </a:r>
          </a:p>
          <a:p>
            <a:r>
              <a:rPr lang="zh-CN" altLang="zh-CN" sz="1400" b="1" dirty="0"/>
              <a:t>Observation:</a:t>
            </a:r>
            <a:br>
              <a:rPr lang="zh-CN" altLang="zh-CN" sz="1400" dirty="0"/>
            </a:br>
            <a:r>
              <a:rPr lang="zh-CN" altLang="zh-CN" sz="1400" dirty="0"/>
              <a:t>Netflix’s average movie Rotten Tomatoes score is 54.4, below Hulu at 60.4 and Disney+ at 58.3.</a:t>
            </a:r>
          </a:p>
          <a:p>
            <a:r>
              <a:rPr lang="zh-CN" altLang="zh-CN" sz="1400" b="1" dirty="0"/>
              <a:t>Evidence:</a:t>
            </a:r>
            <a:br>
              <a:rPr lang="zh-CN" altLang="zh-CN" sz="1400" dirty="0"/>
            </a:br>
            <a:r>
              <a:rPr lang="zh-CN" altLang="zh-CN" sz="1400" dirty="0"/>
              <a:t>Average Rotten Tomatoes Comparison (Fig. 6.5)</a:t>
            </a:r>
          </a:p>
          <a:p>
            <a:r>
              <a:rPr lang="zh-CN" altLang="zh-CN" sz="1400" b="1" dirty="0"/>
              <a:t>Risk implication:</a:t>
            </a:r>
            <a:br>
              <a:rPr lang="zh-CN" altLang="zh-CN" sz="1400" dirty="0"/>
            </a:br>
            <a:r>
              <a:rPr lang="zh-CN" altLang="zh-CN" sz="1400" dirty="0"/>
              <a:t>The weakness is concentrated in movie quality, since Netflix remains competitive in average TV-show ratings.</a:t>
            </a:r>
          </a:p>
          <a:p>
            <a:endParaRPr lang="en-US" altLang="zh-CN" sz="1400" b="1" dirty="0"/>
          </a:p>
          <a:p>
            <a:r>
              <a:rPr lang="zh-CN" altLang="zh-CN" sz="1400" b="1" dirty="0"/>
              <a:t>Threat</a:t>
            </a:r>
          </a:p>
          <a:p>
            <a:r>
              <a:rPr lang="zh-CN" altLang="zh-CN" sz="1400" b="1" dirty="0"/>
              <a:t>Competitive signal observed:</a:t>
            </a:r>
            <a:br>
              <a:rPr lang="zh-CN" altLang="zh-CN" sz="1400" dirty="0"/>
            </a:br>
            <a:r>
              <a:rPr lang="zh-CN" altLang="zh-CN" sz="1400" dirty="0"/>
              <a:t>Prime Video has more movies, while Hulu has the highest average movie rating in the comparison.</a:t>
            </a:r>
          </a:p>
          <a:p>
            <a:r>
              <a:rPr lang="zh-CN" altLang="zh-CN" sz="1400" b="1" dirty="0"/>
              <a:t>Evidence from comparison:</a:t>
            </a:r>
            <a:br>
              <a:rPr lang="zh-CN" altLang="zh-CN" sz="1400" dirty="0"/>
            </a:br>
            <a:r>
              <a:rPr lang="zh-CN" altLang="zh-CN" sz="1400" dirty="0"/>
              <a:t>Content Volume Comparison (Fig. 6.2) and Average Rotten Tomatoes Comparison (Fig. 6.5)</a:t>
            </a:r>
          </a:p>
          <a:p>
            <a:r>
              <a:rPr lang="zh-CN" altLang="zh-CN" sz="1400" b="1" dirty="0"/>
              <a:t>Strategic risk:</a:t>
            </a:r>
            <a:br>
              <a:rPr lang="zh-CN" altLang="zh-CN" sz="1400" dirty="0"/>
            </a:br>
            <a:r>
              <a:rPr lang="zh-CN" altLang="zh-CN" sz="1400" dirty="0"/>
              <a:t>Netflix may lose movie-focused viewers to competitors offering either a larger movie catalog or stronger-rated movies.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0BA465E-AC98-1571-6915-FEA8F02064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3671" y="1628476"/>
            <a:ext cx="6246887" cy="3094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287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C9E5A-0FCF-C580-390B-7A2220800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62AF83EF-EA0A-0953-4395-ABDEDBC9E6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9" b="4266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2A849C3-3CAB-BADD-812F-8CE74975856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3F3C08A-C01E-B941-9F2F-BC97296C43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755D4486-927C-BA6B-BCE5-CE42AA7C5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0781" y="278670"/>
            <a:ext cx="10317507" cy="889000"/>
          </a:xfrm>
        </p:spPr>
        <p:txBody>
          <a:bodyPr>
            <a:noAutofit/>
          </a:bodyPr>
          <a:lstStyle/>
          <a:p>
            <a:r>
              <a:rPr lang="zh-CN" altLang="zh-CN" dirty="0"/>
              <a:t>Strategic Recommendation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907AA-CC84-3048-C46F-A599C9452695}"/>
              </a:ext>
            </a:extLst>
          </p:cNvPr>
          <p:cNvSpPr/>
          <p:nvPr/>
        </p:nvSpPr>
        <p:spPr>
          <a:xfrm>
            <a:off x="846962" y="3714851"/>
            <a:ext cx="10601326" cy="2215991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/>
          <a:p>
            <a:r>
              <a:rPr lang="zh-CN" altLang="zh-CN" dirty="0"/>
              <a:t>Based on the SWOT analysis, Netflix should invest less in expanding its movie catalog and focus more on the quality of future movie releases.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dirty="0"/>
              <a:t>This recommendation is supported by Netflix’s large movie catalog and its lower average movie scores compared with Hulu and Disney+.</a:t>
            </a:r>
            <a:endParaRPr lang="en-US" altLang="zh-CN" dirty="0"/>
          </a:p>
          <a:p>
            <a:endParaRPr lang="zh-CN" altLang="zh-CN" dirty="0"/>
          </a:p>
          <a:p>
            <a:r>
              <a:rPr lang="zh-CN" altLang="zh-CN" dirty="0"/>
              <a:t>The expected outcome would be higher-quality future movies and a stronger competitive position in the streaming market.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3833D0A9-C2B5-4D81-6A0A-B3A4743E4C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8972920"/>
              </p:ext>
            </p:extLst>
          </p:nvPr>
        </p:nvGraphicFramePr>
        <p:xfrm>
          <a:off x="795336" y="1295400"/>
          <a:ext cx="10601325" cy="18616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0265">
                  <a:extLst>
                    <a:ext uri="{9D8B030D-6E8A-4147-A177-3AD203B41FA5}">
                      <a16:colId xmlns:a16="http://schemas.microsoft.com/office/drawing/2014/main" val="899616705"/>
                    </a:ext>
                  </a:extLst>
                </a:gridCol>
                <a:gridCol w="2120265">
                  <a:extLst>
                    <a:ext uri="{9D8B030D-6E8A-4147-A177-3AD203B41FA5}">
                      <a16:colId xmlns:a16="http://schemas.microsoft.com/office/drawing/2014/main" val="1240835826"/>
                    </a:ext>
                  </a:extLst>
                </a:gridCol>
                <a:gridCol w="2120265">
                  <a:extLst>
                    <a:ext uri="{9D8B030D-6E8A-4147-A177-3AD203B41FA5}">
                      <a16:colId xmlns:a16="http://schemas.microsoft.com/office/drawing/2014/main" val="1215633535"/>
                    </a:ext>
                  </a:extLst>
                </a:gridCol>
                <a:gridCol w="2120265">
                  <a:extLst>
                    <a:ext uri="{9D8B030D-6E8A-4147-A177-3AD203B41FA5}">
                      <a16:colId xmlns:a16="http://schemas.microsoft.com/office/drawing/2014/main" val="1450080437"/>
                    </a:ext>
                  </a:extLst>
                </a:gridCol>
                <a:gridCol w="2120265">
                  <a:extLst>
                    <a:ext uri="{9D8B030D-6E8A-4147-A177-3AD203B41FA5}">
                      <a16:colId xmlns:a16="http://schemas.microsoft.com/office/drawing/2014/main" val="2797011532"/>
                    </a:ext>
                  </a:extLst>
                </a:gridCol>
              </a:tblGrid>
              <a:tr h="3723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Movie Titles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TV Show Titles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Avg. Movie </a:t>
                      </a:r>
                      <a:r>
                        <a:rPr lang="en-US" altLang="zh-CN" sz="1600" dirty="0"/>
                        <a:t>RT </a:t>
                      </a:r>
                      <a:r>
                        <a:rPr lang="zh-CN" sz="1600" dirty="0"/>
                        <a:t>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Avg. TV Show </a:t>
                      </a:r>
                      <a:r>
                        <a:rPr lang="en-US" altLang="zh-CN" sz="1600" dirty="0"/>
                        <a:t>RT </a:t>
                      </a:r>
                      <a:r>
                        <a:rPr lang="zh-CN" sz="1600" dirty="0"/>
                        <a:t>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215799"/>
                  </a:ext>
                </a:extLst>
              </a:tr>
              <a:tr h="3723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 dirty="0"/>
                        <a:t>Netflix</a:t>
                      </a:r>
                      <a:endParaRPr lang="zh-CN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3,695</a:t>
                      </a:r>
                      <a:endParaRPr lang="zh-C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 dirty="0"/>
                        <a:t>1,971</a:t>
                      </a:r>
                      <a:endParaRPr lang="zh-CN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54.4</a:t>
                      </a:r>
                      <a:endParaRPr lang="zh-CN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53.6</a:t>
                      </a:r>
                      <a:endParaRPr lang="zh-CN" sz="16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4518090"/>
                  </a:ext>
                </a:extLst>
              </a:tr>
              <a:tr h="3723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Prime Video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4,113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1,831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50.4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37.8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8046194"/>
                  </a:ext>
                </a:extLst>
              </a:tr>
              <a:tr h="3723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Hulu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1,047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1,621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60.4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52.8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0384443"/>
                  </a:ext>
                </a:extLst>
              </a:tr>
              <a:tr h="3723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Disney+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922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58.3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49.4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4892537"/>
                  </a:ext>
                </a:extLst>
              </a:tr>
            </a:tbl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38EAB70C-8900-2EE1-0F8A-DDC7C714242B}"/>
              </a:ext>
            </a:extLst>
          </p:cNvPr>
          <p:cNvSpPr txBox="1"/>
          <p:nvPr/>
        </p:nvSpPr>
        <p:spPr>
          <a:xfrm>
            <a:off x="795336" y="3157025"/>
            <a:ext cx="997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400" dirty="0"/>
              <a:t>Source: Content Volume Comparison (Fig. 6.2) and Average Rotten Tomatoes Comparison (Fig. 6.5).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30403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3D9B-5616-77E1-EE18-35C88C26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F08BA413-B6B2-EE45-4D55-E25DC6D797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9" b="4266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5BDEBEF-8E43-B34C-BC69-2D37B322E71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2A849C3-3CAB-BADD-812F-8CE7497585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0E1EDE0-86A9-E789-FD60-761158CA1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7245" y="274231"/>
            <a:ext cx="10317507" cy="889000"/>
          </a:xfrm>
        </p:spPr>
        <p:txBody>
          <a:bodyPr>
            <a:noAutofit/>
          </a:bodyPr>
          <a:lstStyle/>
          <a:p>
            <a:r>
              <a:rPr lang="zh-CN" altLang="zh-CN" sz="3600" dirty="0"/>
              <a:t>Expected Impact of Strategic Recommendation</a:t>
            </a:r>
            <a:endParaRPr lang="en-US" sz="36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A3FDCA4-D90C-C7BE-271A-F9307A01E1CE}"/>
              </a:ext>
            </a:extLst>
          </p:cNvPr>
          <p:cNvSpPr txBox="1"/>
          <p:nvPr/>
        </p:nvSpPr>
        <p:spPr>
          <a:xfrm>
            <a:off x="878195" y="4892426"/>
            <a:ext cx="1043560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Retaining an additional 1% of paying memberships through higher-quality future movies could protect approximately $295M in annual streaming revenue.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zh-CN" sz="1400" dirty="0"/>
              <a:t>Source: Netflix 2021 Annual Report; estimate based on an illustrative 1% retained-membership scenario.</a:t>
            </a:r>
            <a:endParaRPr lang="zh-CN" altLang="en-US" sz="1400" dirty="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6D65A70-7EFE-29B9-E281-84E4BE5CD2BD}"/>
              </a:ext>
            </a:extLst>
          </p:cNvPr>
          <p:cNvSpPr/>
          <p:nvPr/>
        </p:nvSpPr>
        <p:spPr>
          <a:xfrm>
            <a:off x="7391400" y="1752600"/>
            <a:ext cx="3863352" cy="2893855"/>
          </a:xfrm>
          <a:prstGeom prst="round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b="1" dirty="0">
                <a:solidFill>
                  <a:schemeClr val="tx1"/>
                </a:solidFill>
              </a:rPr>
              <a:t>Estimated Annual Streaming Revenue Protected</a:t>
            </a:r>
            <a:br>
              <a:rPr lang="zh-CN" altLang="zh-CN" sz="6000" dirty="0">
                <a:solidFill>
                  <a:schemeClr val="tx1"/>
                </a:solidFill>
              </a:rPr>
            </a:br>
            <a:r>
              <a:rPr lang="zh-CN" altLang="zh-CN" sz="6000" b="1" dirty="0">
                <a:solidFill>
                  <a:schemeClr val="tx1"/>
                </a:solidFill>
              </a:rPr>
              <a:t>≈$295M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F5BD65E-16ED-8FCA-29FD-D66D00340CD6}"/>
              </a:ext>
            </a:extLst>
          </p:cNvPr>
          <p:cNvSpPr/>
          <p:nvPr/>
        </p:nvSpPr>
        <p:spPr>
          <a:xfrm>
            <a:off x="937246" y="1163231"/>
            <a:ext cx="10317506" cy="46706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1400" dirty="0"/>
              <a:t>Estimated Revenue Protected = Average Paying Memberships × Retention Scenario × Avg. Monthly Revenue per Paying Membership × 12</a:t>
            </a:r>
            <a:endParaRPr lang="zh-CN" altLang="en-US" sz="1400" dirty="0"/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BCDDAD82-936E-10FB-CBFF-E8241B83C7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92789"/>
              </p:ext>
            </p:extLst>
          </p:nvPr>
        </p:nvGraphicFramePr>
        <p:xfrm>
          <a:off x="937245" y="1752600"/>
          <a:ext cx="6282706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1353">
                  <a:extLst>
                    <a:ext uri="{9D8B030D-6E8A-4147-A177-3AD203B41FA5}">
                      <a16:colId xmlns:a16="http://schemas.microsoft.com/office/drawing/2014/main" val="4238502705"/>
                    </a:ext>
                  </a:extLst>
                </a:gridCol>
                <a:gridCol w="3141353">
                  <a:extLst>
                    <a:ext uri="{9D8B030D-6E8A-4147-A177-3AD203B41FA5}">
                      <a16:colId xmlns:a16="http://schemas.microsoft.com/office/drawing/2014/main" val="4289593873"/>
                    </a:ext>
                  </a:extLst>
                </a:gridCol>
              </a:tblGrid>
              <a:tr h="3575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dirty="0"/>
                        <a:t>Calculation Input</a:t>
                      </a:r>
                      <a:endParaRPr lang="zh-C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/>
                        <a:t>Value</a:t>
                      </a:r>
                      <a:endParaRPr lang="zh-C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0182648"/>
                  </a:ext>
                </a:extLst>
              </a:tr>
              <a:tr h="3575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Average paying memberships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210.8M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6187280"/>
                  </a:ext>
                </a:extLst>
              </a:tr>
              <a:tr h="3575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Illustrative retention scenario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7524373"/>
                  </a:ext>
                </a:extLst>
              </a:tr>
              <a:tr h="5700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zh-CN" dirty="0"/>
                        <a:t>Additional paying memberships retained</a:t>
                      </a:r>
                      <a:endParaRPr lang="zh-C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≈2.1M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7377261"/>
                  </a:ext>
                </a:extLst>
              </a:tr>
              <a:tr h="6256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Avg. monthly revenue per paying membership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$11.67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2973582"/>
                  </a:ext>
                </a:extLst>
              </a:tr>
              <a:tr h="6256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zh-CN" dirty="0"/>
                        <a:t>Annual revenue per paying membership</a:t>
                      </a:r>
                      <a:endParaRPr lang="zh-C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$140.04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80330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556208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6.dje..5j1bgm_6VzoUJ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glcS7V6RsVPtr9.KlR1rw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glcS7V6RsVPtr9.KlR1r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glcS7V6RsVPtr9.KlR1rw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glcS7V6RsVPtr9.KlR1rw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Netflix">
      <a:dk1>
        <a:srgbClr val="000000"/>
      </a:dk1>
      <a:lt1>
        <a:srgbClr val="FFFFFF"/>
      </a:lt1>
      <a:dk2>
        <a:srgbClr val="FFFFFF"/>
      </a:dk2>
      <a:lt2>
        <a:srgbClr val="E7E6E6"/>
      </a:lt2>
      <a:accent1>
        <a:srgbClr val="DB0605"/>
      </a:accent1>
      <a:accent2>
        <a:srgbClr val="740405"/>
      </a:accent2>
      <a:accent3>
        <a:srgbClr val="0C090D"/>
      </a:accent3>
      <a:accent4>
        <a:srgbClr val="424342"/>
      </a:accent4>
      <a:accent5>
        <a:srgbClr val="F1F2F1"/>
      </a:accent5>
      <a:accent6>
        <a:srgbClr val="FFFFFF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TM04033927[[fn=主要事件]]</Template>
  <TotalTime>2507</TotalTime>
  <Words>986</Words>
  <Application>Microsoft Office PowerPoint</Application>
  <PresentationFormat>宽屏</PresentationFormat>
  <Paragraphs>125</Paragraphs>
  <Slides>9</Slides>
  <Notes>6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6" baseType="lpstr">
      <vt:lpstr>Arial</vt:lpstr>
      <vt:lpstr>Calibri</vt:lpstr>
      <vt:lpstr>Impact</vt:lpstr>
      <vt:lpstr>Segoe UI</vt:lpstr>
      <vt:lpstr>Segoe UI Light</vt:lpstr>
      <vt:lpstr>Office Theme</vt:lpstr>
      <vt:lpstr>think-cell Slide</vt:lpstr>
      <vt:lpstr>PowerPoint 演示文稿</vt:lpstr>
      <vt:lpstr>Project Overview</vt:lpstr>
      <vt:lpstr>Industry Landscape: Five Forces</vt:lpstr>
      <vt:lpstr>Platform Strategy Analysis</vt:lpstr>
      <vt:lpstr>Netflix Content Mix</vt:lpstr>
      <vt:lpstr>Netflix SWOT Analysis: Strength &amp; Opportunity</vt:lpstr>
      <vt:lpstr>Netflix SWOT Analysis: Weakness &amp; Threat</vt:lpstr>
      <vt:lpstr>Strategic Recommendation</vt:lpstr>
      <vt:lpstr>Expected Impact of Strategic Recommendation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erybagas</dc:creator>
  <cp:lastModifiedBy>Gu Naqiao</cp:lastModifiedBy>
  <cp:revision>321</cp:revision>
  <dcterms:created xsi:type="dcterms:W3CDTF">2019-08-16T12:08:31Z</dcterms:created>
  <dcterms:modified xsi:type="dcterms:W3CDTF">2026-07-30T00:16:36Z</dcterms:modified>
</cp:coreProperties>
</file>